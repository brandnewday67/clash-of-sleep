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Roboto"/>
      <p:regular r:id="rId31"/>
      <p:bold r:id="rId32"/>
      <p:italic r:id="rId33"/>
      <p:boldItalic r:id="rId34"/>
    </p:embeddedFont>
    <p:embeddedFont>
      <p:font typeface="Pacifico"/>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8ED482-F35D-458F-B41A-CBEB8BBF33FB}">
  <a:tblStyle styleId="{E98ED482-F35D-458F-B41A-CBEB8BBF33F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227345D-A529-405E-9059-18E91EEFE0F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italic.fntdata"/><Relationship Id="rId10" Type="http://schemas.openxmlformats.org/officeDocument/2006/relationships/slide" Target="slides/slide4.xml"/><Relationship Id="rId32" Type="http://schemas.openxmlformats.org/officeDocument/2006/relationships/font" Target="fonts/Roboto-bold.fntdata"/><Relationship Id="rId13" Type="http://schemas.openxmlformats.org/officeDocument/2006/relationships/slide" Target="slides/slide7.xml"/><Relationship Id="rId35" Type="http://schemas.openxmlformats.org/officeDocument/2006/relationships/font" Target="fonts/Pacifico-regular.fntdata"/><Relationship Id="rId12" Type="http://schemas.openxmlformats.org/officeDocument/2006/relationships/slide" Target="slides/slide6.xml"/><Relationship Id="rId34" Type="http://schemas.openxmlformats.org/officeDocument/2006/relationships/font" Target="fonts/Robot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Possible solutions: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21d9b40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21d9b40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21d9b409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21d9b409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22f6e03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22f6e03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21d9b409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21d9b409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67</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22f6e031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22f6e031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22f6e031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22f6e031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25e6eb00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f25e6eb00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22f6e031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f22f6e031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25e6eb00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25e6eb00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25e6eb0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25e6eb0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25e6eb00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f25e6eb00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25ecdf3e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25ecdf3e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8163b77f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8163b77f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8163b77f5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8163b77f5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94dc0844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94dc0844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944f58a2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944f58a2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94dc0844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94dc0844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969213f4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969213f4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82e6366d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82e6366d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Nathaniel 4 raph 1</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94dc0844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f94dc0844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f2bf6ef019040da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f2bf6ef019040d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96eda646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96eda646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96eda646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f96eda646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5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ocs.google.com/forms/d/e/1FAIpQLSfdXPsn-ZQszBOqWqheGV2rM2wat8LMJQfbqSA8CW8LmWufRw/viewform?usp=publish-editor" TargetMode="External"/><Relationship Id="rId4" Type="http://schemas.openxmlformats.org/officeDocument/2006/relationships/hyperlink" Target="https://app.base44.com/invite/link/DD9va7Wjmz6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6.jpg"/><Relationship Id="rId8"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Unit 2 AOS 1:Innovative solutions</a:t>
            </a:r>
            <a:endParaRPr/>
          </a:p>
          <a:p>
            <a:pPr indent="0" lvl="0" marL="0" rtl="0" algn="ctr">
              <a:spcBef>
                <a:spcPts val="0"/>
              </a:spcBef>
              <a:spcAft>
                <a:spcPts val="0"/>
              </a:spcAft>
              <a:buNone/>
            </a:pPr>
            <a:r>
              <a:rPr lang="en-GB">
                <a:latin typeface="Pacifico"/>
                <a:ea typeface="Pacifico"/>
                <a:cs typeface="Pacifico"/>
                <a:sym typeface="Pacifico"/>
              </a:rPr>
              <a:t>CLASH OF SLEEP</a:t>
            </a:r>
            <a:endParaRPr>
              <a:latin typeface="Pacifico"/>
              <a:ea typeface="Pacifico"/>
              <a:cs typeface="Pacifico"/>
              <a:sym typeface="Pacifico"/>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a:t>By  Tristan,Nathaniel, Chauriya and Rafielalas</a:t>
            </a:r>
            <a:endParaRPr b="1"/>
          </a:p>
        </p:txBody>
      </p:sp>
      <p:pic>
        <p:nvPicPr>
          <p:cNvPr id="56" name="Google Shape;56;p13" title="Screenshot 2026-06-23 120216.png"/>
          <p:cNvPicPr preferRelativeResize="0"/>
          <p:nvPr/>
        </p:nvPicPr>
        <p:blipFill>
          <a:blip r:embed="rId3">
            <a:alphaModFix/>
          </a:blip>
          <a:stretch>
            <a:fillRect/>
          </a:stretch>
        </p:blipFill>
        <p:spPr>
          <a:xfrm>
            <a:off x="0" y="0"/>
            <a:ext cx="1296199" cy="846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1.0 Identified need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sz="2000">
                <a:solidFill>
                  <a:srgbClr val="000000"/>
                </a:solidFill>
              </a:rPr>
              <a:t>Target audience: </a:t>
            </a:r>
            <a:r>
              <a:rPr lang="en-GB" sz="2000">
                <a:solidFill>
                  <a:schemeClr val="dk1"/>
                </a:solidFill>
              </a:rPr>
              <a:t>High school students who struggle with getting up in the morning</a:t>
            </a:r>
            <a:endParaRPr sz="2000">
              <a:solidFill>
                <a:schemeClr val="dk1"/>
              </a:solidFill>
            </a:endParaRPr>
          </a:p>
          <a:p>
            <a:pPr indent="0" lvl="0" marL="0" rtl="0" algn="l">
              <a:spcBef>
                <a:spcPts val="1200"/>
              </a:spcBef>
              <a:spcAft>
                <a:spcPts val="0"/>
              </a:spcAft>
              <a:buNone/>
            </a:pPr>
            <a:r>
              <a:rPr b="1" lang="en-GB" sz="2000">
                <a:solidFill>
                  <a:schemeClr val="dk1"/>
                </a:solidFill>
              </a:rPr>
              <a:t>Current setup:</a:t>
            </a:r>
            <a:r>
              <a:rPr lang="en-GB" sz="2000">
                <a:solidFill>
                  <a:schemeClr val="dk1"/>
                </a:solidFill>
              </a:rPr>
              <a:t> </a:t>
            </a:r>
            <a:r>
              <a:rPr lang="en-GB" sz="2000">
                <a:solidFill>
                  <a:schemeClr val="dk1"/>
                </a:solidFill>
              </a:rPr>
              <a:t>Phones - Kids stay on phones at night causing them to go to bed late</a:t>
            </a:r>
            <a:endParaRPr sz="2000">
              <a:solidFill>
                <a:schemeClr val="dk1"/>
              </a:solidFill>
            </a:endParaRPr>
          </a:p>
          <a:p>
            <a:pPr indent="0" lvl="0" marL="0" rtl="0" algn="l">
              <a:spcBef>
                <a:spcPts val="1200"/>
              </a:spcBef>
              <a:spcAft>
                <a:spcPts val="0"/>
              </a:spcAft>
              <a:buNone/>
            </a:pPr>
            <a:r>
              <a:rPr b="1" lang="en-GB" sz="2000">
                <a:solidFill>
                  <a:schemeClr val="dk1"/>
                </a:solidFill>
              </a:rPr>
              <a:t>Problem:</a:t>
            </a:r>
            <a:r>
              <a:rPr lang="en-GB" sz="2000">
                <a:solidFill>
                  <a:schemeClr val="dk1"/>
                </a:solidFill>
              </a:rPr>
              <a:t> High school students not getting to school on time</a:t>
            </a:r>
            <a:endParaRPr sz="2000">
              <a:solidFill>
                <a:schemeClr val="dk1"/>
              </a:solidFill>
            </a:endParaRPr>
          </a:p>
          <a:p>
            <a:pPr indent="0" lvl="0" marL="0" rtl="0" algn="l">
              <a:spcBef>
                <a:spcPts val="1200"/>
              </a:spcBef>
              <a:spcAft>
                <a:spcPts val="0"/>
              </a:spcAft>
              <a:buNone/>
            </a:pPr>
            <a:r>
              <a:rPr b="1" lang="en-GB" sz="2000">
                <a:solidFill>
                  <a:schemeClr val="dk1"/>
                </a:solidFill>
              </a:rPr>
              <a:t>Need:</a:t>
            </a:r>
            <a:r>
              <a:rPr lang="en-GB" sz="2000">
                <a:solidFill>
                  <a:schemeClr val="dk1"/>
                </a:solidFill>
              </a:rPr>
              <a:t> Make something that can help these high school students get to school on time</a:t>
            </a:r>
            <a:endParaRPr sz="2000">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1.0 Proposed Solutions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Create an app that has the functions of an alarm but rewards the user with points that can be redeemed for skins on the users digital avatar and also include a leaderboard</a:t>
            </a:r>
            <a:r>
              <a:rPr lang="en-GB"/>
              <a:t>.</a:t>
            </a:r>
            <a:endParaRPr/>
          </a:p>
          <a:p>
            <a:pPr indent="-342900" lvl="0" marL="457200" rtl="0" algn="l">
              <a:spcBef>
                <a:spcPts val="0"/>
              </a:spcBef>
              <a:spcAft>
                <a:spcPts val="0"/>
              </a:spcAft>
              <a:buSzPts val="1800"/>
              <a:buAutoNum type="arabicPeriod"/>
            </a:pPr>
            <a:r>
              <a:rPr lang="en-GB"/>
              <a:t>Create an app that tracks sleep patterns and acts as an </a:t>
            </a:r>
            <a:r>
              <a:rPr lang="en-GB"/>
              <a:t>alarm</a:t>
            </a:r>
            <a:r>
              <a:rPr lang="en-GB"/>
              <a:t> that can only be switched off when the user </a:t>
            </a:r>
            <a:r>
              <a:rPr lang="en-GB"/>
              <a:t>completes certain tasks (take photo of kitchen, math problems, speaking)</a:t>
            </a:r>
            <a:endParaRPr/>
          </a:p>
          <a:p>
            <a:pPr indent="-342900" lvl="0" marL="457200" rtl="0" algn="l">
              <a:spcBef>
                <a:spcPts val="0"/>
              </a:spcBef>
              <a:spcAft>
                <a:spcPts val="0"/>
              </a:spcAft>
              <a:buSzPts val="1800"/>
              <a:buAutoNum type="arabicPeriod"/>
            </a:pPr>
            <a:r>
              <a:rPr lang="en-GB"/>
              <a:t>Create an app that plays audio depending on the depth of the user sleep. Eg: if the user is in deep sleep it will play and audio that would slowly speed up to wake up the user gently.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1.0 The Proposal</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 solution: An app called ‘Clash of Sleep’ that promotes users to arrive at school on time.The features of this app are A leaderboard that tracks the users points and ranks them against other users, the app </a:t>
            </a:r>
            <a:r>
              <a:rPr lang="en-GB"/>
              <a:t>allows</a:t>
            </a:r>
            <a:r>
              <a:rPr lang="en-GB"/>
              <a:t> users to spend these points on skins on their digital avatars and also allow the users to create clans which they can compete against other clans </a:t>
            </a:r>
            <a:r>
              <a:rPr lang="en-GB"/>
              <a:t>in</a:t>
            </a:r>
            <a:r>
              <a:rPr lang="en-GB"/>
              <a:t> their area. The app includes Geolocation to stop users from cheating the system</a:t>
            </a:r>
            <a:endParaRPr/>
          </a:p>
          <a:p>
            <a:pPr indent="0" lvl="0" marL="0" rtl="0" algn="l">
              <a:spcBef>
                <a:spcPts val="1200"/>
              </a:spcBef>
              <a:spcAft>
                <a:spcPts val="1200"/>
              </a:spcAft>
              <a:buNone/>
            </a:pPr>
            <a:r>
              <a:rPr lang="en-GB"/>
              <a:t>Inspiration: Life 360,  Google Maps and Alarm clocks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p:nvPr/>
        </p:nvSpPr>
        <p:spPr>
          <a:xfrm>
            <a:off x="154950" y="142513"/>
            <a:ext cx="8792100" cy="664800"/>
          </a:xfrm>
          <a:prstGeom prst="rect">
            <a:avLst/>
          </a:prstGeom>
          <a:noFill/>
          <a:ln>
            <a:noFill/>
          </a:ln>
        </p:spPr>
        <p:txBody>
          <a:bodyPr anchorCtr="0" anchor="ctr" bIns="36925" lIns="73875" spcFirstLastPara="1" rIns="73875" wrap="square" tIns="36925">
            <a:noAutofit/>
          </a:bodyPr>
          <a:lstStyle/>
          <a:p>
            <a:pPr indent="0" lvl="0" marL="0" marR="0" rtl="0" algn="l">
              <a:spcBef>
                <a:spcPts val="0"/>
              </a:spcBef>
              <a:spcAft>
                <a:spcPts val="0"/>
              </a:spcAft>
              <a:buClr>
                <a:srgbClr val="1E2761"/>
              </a:buClr>
              <a:buSzPts val="2424"/>
              <a:buFont typeface="Trebuchet MS"/>
              <a:buNone/>
            </a:pPr>
            <a:r>
              <a:rPr b="1" i="0" lang="en-GB" sz="2424" u="none" cap="none" strike="noStrike">
                <a:solidFill>
                  <a:srgbClr val="1E2761"/>
                </a:solidFill>
                <a:latin typeface="Trebuchet MS"/>
                <a:ea typeface="Trebuchet MS"/>
                <a:cs typeface="Trebuchet MS"/>
                <a:sym typeface="Trebuchet MS"/>
              </a:rPr>
              <a:t>The UN Sustainable Development Goals (SDGs)</a:t>
            </a:r>
            <a:endParaRPr b="0" i="0" sz="2424" u="none" cap="none" strike="noStrike">
              <a:solidFill>
                <a:srgbClr val="000000"/>
              </a:solidFill>
              <a:latin typeface="Calibri"/>
              <a:ea typeface="Calibri"/>
              <a:cs typeface="Calibri"/>
              <a:sym typeface="Calibri"/>
            </a:endParaRPr>
          </a:p>
        </p:txBody>
      </p:sp>
      <p:sp>
        <p:nvSpPr>
          <p:cNvPr id="80" name="Google Shape;80;p17"/>
          <p:cNvSpPr/>
          <p:nvPr/>
        </p:nvSpPr>
        <p:spPr>
          <a:xfrm>
            <a:off x="142875" y="1283719"/>
            <a:ext cx="2766300" cy="1717800"/>
          </a:xfrm>
          <a:prstGeom prst="roundRect">
            <a:avLst>
              <a:gd fmla="val 4301" name="adj"/>
            </a:avLst>
          </a:prstGeom>
          <a:solidFill>
            <a:srgbClr val="E7EEFB"/>
          </a:solidFill>
          <a:ln cap="flat" cmpd="sng" w="10275">
            <a:solidFill>
              <a:srgbClr val="D4E2F7"/>
            </a:solidFill>
            <a:prstDash val="solid"/>
            <a:round/>
            <a:headEnd len="sm" w="sm" type="none"/>
            <a:tailEnd len="sm" w="sm" type="none"/>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81" name="Google Shape;81;p17"/>
          <p:cNvSpPr/>
          <p:nvPr/>
        </p:nvSpPr>
        <p:spPr>
          <a:xfrm>
            <a:off x="142875" y="1283719"/>
            <a:ext cx="88800" cy="1717800"/>
          </a:xfrm>
          <a:prstGeom prst="roundRect">
            <a:avLst>
              <a:gd fmla="val 16667" name="adj"/>
            </a:avLst>
          </a:prstGeom>
          <a:solidFill>
            <a:srgbClr val="00B4D8"/>
          </a:solidFill>
          <a:ln>
            <a:noFill/>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82" name="Google Shape;82;p17"/>
          <p:cNvSpPr/>
          <p:nvPr/>
        </p:nvSpPr>
        <p:spPr>
          <a:xfrm>
            <a:off x="349745" y="1401930"/>
            <a:ext cx="2434200" cy="369300"/>
          </a:xfrm>
          <a:prstGeom prst="rect">
            <a:avLst/>
          </a:prstGeom>
          <a:noFill/>
          <a:ln>
            <a:noFill/>
          </a:ln>
        </p:spPr>
        <p:txBody>
          <a:bodyPr anchorCtr="0" anchor="ctr" bIns="36925" lIns="73875" spcFirstLastPara="1" rIns="73875" wrap="square" tIns="36925">
            <a:noAutofit/>
          </a:bodyPr>
          <a:lstStyle/>
          <a:p>
            <a:pPr indent="0" lvl="0" marL="0" marR="0" rtl="0" algn="l">
              <a:spcBef>
                <a:spcPts val="0"/>
              </a:spcBef>
              <a:spcAft>
                <a:spcPts val="0"/>
              </a:spcAft>
              <a:buClr>
                <a:srgbClr val="1E2761"/>
              </a:buClr>
              <a:buSzPts val="1293"/>
              <a:buFont typeface="Trebuchet MS"/>
              <a:buNone/>
            </a:pPr>
            <a:r>
              <a:rPr b="1" i="0" lang="en-GB" sz="1293" u="none" cap="none" strike="noStrike">
                <a:solidFill>
                  <a:srgbClr val="1E2761"/>
                </a:solidFill>
                <a:latin typeface="Trebuchet MS"/>
                <a:ea typeface="Trebuchet MS"/>
                <a:cs typeface="Trebuchet MS"/>
                <a:sym typeface="Trebuchet MS"/>
              </a:rPr>
              <a:t>What</a:t>
            </a:r>
            <a:r>
              <a:rPr b="1" lang="en-GB" sz="1293">
                <a:solidFill>
                  <a:srgbClr val="1E2761"/>
                </a:solidFill>
                <a:latin typeface="Trebuchet MS"/>
                <a:ea typeface="Trebuchet MS"/>
                <a:cs typeface="Trebuchet MS"/>
                <a:sym typeface="Trebuchet MS"/>
              </a:rPr>
              <a:t> are they?</a:t>
            </a:r>
            <a:endParaRPr b="0" i="0" sz="1293" u="none" cap="none" strike="noStrike">
              <a:solidFill>
                <a:srgbClr val="000000"/>
              </a:solidFill>
              <a:latin typeface="Calibri"/>
              <a:ea typeface="Calibri"/>
              <a:cs typeface="Calibri"/>
              <a:sym typeface="Calibri"/>
            </a:endParaRPr>
          </a:p>
        </p:txBody>
      </p:sp>
      <p:sp>
        <p:nvSpPr>
          <p:cNvPr id="83" name="Google Shape;83;p17"/>
          <p:cNvSpPr/>
          <p:nvPr/>
        </p:nvSpPr>
        <p:spPr>
          <a:xfrm>
            <a:off x="349745" y="1786116"/>
            <a:ext cx="2434200" cy="1089900"/>
          </a:xfrm>
          <a:prstGeom prst="rect">
            <a:avLst/>
          </a:prstGeom>
          <a:noFill/>
          <a:ln>
            <a:noFill/>
          </a:ln>
        </p:spPr>
        <p:txBody>
          <a:bodyPr anchorCtr="0" anchor="t" bIns="36925" lIns="73875" spcFirstLastPara="1" rIns="73875" wrap="square" tIns="36925">
            <a:noAutofit/>
          </a:bodyPr>
          <a:lstStyle/>
          <a:p>
            <a:pPr indent="0" lvl="0" marL="0" marR="0" rtl="0" algn="l">
              <a:lnSpc>
                <a:spcPct val="103000"/>
              </a:lnSpc>
              <a:spcBef>
                <a:spcPts val="0"/>
              </a:spcBef>
              <a:spcAft>
                <a:spcPts val="0"/>
              </a:spcAft>
              <a:buClr>
                <a:srgbClr val="1A1A2E"/>
              </a:buClr>
              <a:buSzPts val="1091"/>
              <a:buFont typeface="Calibri"/>
              <a:buNone/>
            </a:pPr>
            <a:r>
              <a:rPr b="0" i="0" lang="en-GB" sz="1291" u="none" cap="none" strike="noStrike">
                <a:solidFill>
                  <a:srgbClr val="1A1A2E"/>
                </a:solidFill>
                <a:latin typeface="Calibri"/>
                <a:ea typeface="Calibri"/>
                <a:cs typeface="Calibri"/>
                <a:sym typeface="Calibri"/>
              </a:rPr>
              <a:t>17 global goals adopted by the UN to make the world fairer and more sustainable by 2030.</a:t>
            </a:r>
            <a:endParaRPr b="0" i="0" sz="1291" u="none" cap="none" strike="noStrike">
              <a:solidFill>
                <a:srgbClr val="000000"/>
              </a:solidFill>
              <a:latin typeface="Calibri"/>
              <a:ea typeface="Calibri"/>
              <a:cs typeface="Calibri"/>
              <a:sym typeface="Calibri"/>
            </a:endParaRPr>
          </a:p>
        </p:txBody>
      </p:sp>
      <p:sp>
        <p:nvSpPr>
          <p:cNvPr id="84" name="Google Shape;84;p17"/>
          <p:cNvSpPr/>
          <p:nvPr/>
        </p:nvSpPr>
        <p:spPr>
          <a:xfrm>
            <a:off x="3167851" y="1283719"/>
            <a:ext cx="2766300" cy="1717800"/>
          </a:xfrm>
          <a:prstGeom prst="roundRect">
            <a:avLst>
              <a:gd fmla="val 4301" name="adj"/>
            </a:avLst>
          </a:prstGeom>
          <a:solidFill>
            <a:srgbClr val="E7EEFB"/>
          </a:solidFill>
          <a:ln cap="flat" cmpd="sng" w="10275">
            <a:solidFill>
              <a:srgbClr val="D4E2F7"/>
            </a:solidFill>
            <a:prstDash val="solid"/>
            <a:round/>
            <a:headEnd len="sm" w="sm" type="none"/>
            <a:tailEnd len="sm" w="sm" type="none"/>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85" name="Google Shape;85;p17"/>
          <p:cNvSpPr/>
          <p:nvPr/>
        </p:nvSpPr>
        <p:spPr>
          <a:xfrm>
            <a:off x="3167851" y="1283719"/>
            <a:ext cx="88800" cy="1717800"/>
          </a:xfrm>
          <a:prstGeom prst="roundRect">
            <a:avLst>
              <a:gd fmla="val 16667" name="adj"/>
            </a:avLst>
          </a:prstGeom>
          <a:solidFill>
            <a:srgbClr val="00B4D8"/>
          </a:solidFill>
          <a:ln>
            <a:noFill/>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86" name="Google Shape;86;p17"/>
          <p:cNvSpPr/>
          <p:nvPr/>
        </p:nvSpPr>
        <p:spPr>
          <a:xfrm>
            <a:off x="3374720" y="1401930"/>
            <a:ext cx="2434200" cy="369300"/>
          </a:xfrm>
          <a:prstGeom prst="rect">
            <a:avLst/>
          </a:prstGeom>
          <a:noFill/>
          <a:ln>
            <a:noFill/>
          </a:ln>
        </p:spPr>
        <p:txBody>
          <a:bodyPr anchorCtr="0" anchor="ctr" bIns="36925" lIns="73875" spcFirstLastPara="1" rIns="73875" wrap="square" tIns="36925">
            <a:noAutofit/>
          </a:bodyPr>
          <a:lstStyle/>
          <a:p>
            <a:pPr indent="0" lvl="0" marL="0" marR="0" rtl="0" algn="l">
              <a:spcBef>
                <a:spcPts val="0"/>
              </a:spcBef>
              <a:spcAft>
                <a:spcPts val="0"/>
              </a:spcAft>
              <a:buClr>
                <a:srgbClr val="1E2761"/>
              </a:buClr>
              <a:buSzPts val="1293"/>
              <a:buFont typeface="Trebuchet MS"/>
              <a:buNone/>
            </a:pPr>
            <a:r>
              <a:rPr b="1" i="0" lang="en-GB" sz="1293" u="none" cap="none" strike="noStrike">
                <a:solidFill>
                  <a:srgbClr val="1E2761"/>
                </a:solidFill>
                <a:latin typeface="Trebuchet MS"/>
                <a:ea typeface="Trebuchet MS"/>
                <a:cs typeface="Trebuchet MS"/>
                <a:sym typeface="Trebuchet MS"/>
              </a:rPr>
              <a:t>Why </a:t>
            </a:r>
            <a:r>
              <a:rPr b="1" lang="en-GB" sz="1293">
                <a:solidFill>
                  <a:srgbClr val="1E2761"/>
                </a:solidFill>
                <a:latin typeface="Trebuchet MS"/>
                <a:ea typeface="Trebuchet MS"/>
                <a:cs typeface="Trebuchet MS"/>
                <a:sym typeface="Trebuchet MS"/>
              </a:rPr>
              <a:t>do they matter?</a:t>
            </a:r>
            <a:endParaRPr b="0" i="0" sz="1293" u="none" cap="none" strike="noStrike">
              <a:solidFill>
                <a:srgbClr val="000000"/>
              </a:solidFill>
              <a:latin typeface="Calibri"/>
              <a:ea typeface="Calibri"/>
              <a:cs typeface="Calibri"/>
              <a:sym typeface="Calibri"/>
            </a:endParaRPr>
          </a:p>
        </p:txBody>
      </p:sp>
      <p:sp>
        <p:nvSpPr>
          <p:cNvPr id="87" name="Google Shape;87;p17"/>
          <p:cNvSpPr/>
          <p:nvPr/>
        </p:nvSpPr>
        <p:spPr>
          <a:xfrm>
            <a:off x="3374720" y="1786116"/>
            <a:ext cx="2434200" cy="1089900"/>
          </a:xfrm>
          <a:prstGeom prst="rect">
            <a:avLst/>
          </a:prstGeom>
          <a:noFill/>
          <a:ln>
            <a:noFill/>
          </a:ln>
        </p:spPr>
        <p:txBody>
          <a:bodyPr anchorCtr="0" anchor="t" bIns="36925" lIns="73875" spcFirstLastPara="1" rIns="73875" wrap="square" tIns="36925">
            <a:noAutofit/>
          </a:bodyPr>
          <a:lstStyle/>
          <a:p>
            <a:pPr indent="0" lvl="0" marL="0" marR="0" rtl="0" algn="l">
              <a:lnSpc>
                <a:spcPct val="103000"/>
              </a:lnSpc>
              <a:spcBef>
                <a:spcPts val="0"/>
              </a:spcBef>
              <a:spcAft>
                <a:spcPts val="0"/>
              </a:spcAft>
              <a:buClr>
                <a:srgbClr val="1A1A2E"/>
              </a:buClr>
              <a:buSzPts val="1091"/>
              <a:buFont typeface="Calibri"/>
              <a:buNone/>
            </a:pPr>
            <a:r>
              <a:rPr lang="en-GB" sz="1091">
                <a:solidFill>
                  <a:srgbClr val="1A1A2E"/>
                </a:solidFill>
                <a:latin typeface="Calibri"/>
                <a:ea typeface="Calibri"/>
                <a:cs typeface="Calibri"/>
                <a:sym typeface="Calibri"/>
              </a:rPr>
              <a:t>Our solution </a:t>
            </a:r>
            <a:r>
              <a:rPr lang="en-GB" sz="1091">
                <a:solidFill>
                  <a:srgbClr val="1A1A2E"/>
                </a:solidFill>
                <a:latin typeface="Calibri"/>
                <a:ea typeface="Calibri"/>
                <a:cs typeface="Calibri"/>
                <a:sym typeface="Calibri"/>
              </a:rPr>
              <a:t>aligns</a:t>
            </a:r>
            <a:r>
              <a:rPr lang="en-GB" sz="1091">
                <a:solidFill>
                  <a:srgbClr val="1A1A2E"/>
                </a:solidFill>
                <a:latin typeface="Calibri"/>
                <a:ea typeface="Calibri"/>
                <a:cs typeface="Calibri"/>
                <a:sym typeface="Calibri"/>
              </a:rPr>
              <a:t> with the SDGs because it promotes healthy sleep </a:t>
            </a:r>
            <a:r>
              <a:rPr lang="en-GB" sz="1091">
                <a:solidFill>
                  <a:srgbClr val="1A1A2E"/>
                </a:solidFill>
                <a:latin typeface="Calibri"/>
                <a:ea typeface="Calibri"/>
                <a:cs typeface="Calibri"/>
                <a:sym typeface="Calibri"/>
              </a:rPr>
              <a:t>habits</a:t>
            </a:r>
            <a:r>
              <a:rPr lang="en-GB" sz="1091">
                <a:solidFill>
                  <a:srgbClr val="1A1A2E"/>
                </a:solidFill>
                <a:latin typeface="Calibri"/>
                <a:ea typeface="Calibri"/>
                <a:cs typeface="Calibri"/>
                <a:sym typeface="Calibri"/>
              </a:rPr>
              <a:t>, which can improve physical and mental health.</a:t>
            </a:r>
            <a:endParaRPr b="0" i="0" sz="1091" u="none" cap="none" strike="noStrike">
              <a:solidFill>
                <a:srgbClr val="000000"/>
              </a:solidFill>
              <a:latin typeface="Calibri"/>
              <a:ea typeface="Calibri"/>
              <a:cs typeface="Calibri"/>
              <a:sym typeface="Calibri"/>
            </a:endParaRPr>
          </a:p>
        </p:txBody>
      </p:sp>
      <p:sp>
        <p:nvSpPr>
          <p:cNvPr id="88" name="Google Shape;88;p17"/>
          <p:cNvSpPr/>
          <p:nvPr/>
        </p:nvSpPr>
        <p:spPr>
          <a:xfrm>
            <a:off x="6192827" y="1283719"/>
            <a:ext cx="2766300" cy="1717800"/>
          </a:xfrm>
          <a:prstGeom prst="roundRect">
            <a:avLst>
              <a:gd fmla="val 4301" name="adj"/>
            </a:avLst>
          </a:prstGeom>
          <a:solidFill>
            <a:srgbClr val="E7EEFB"/>
          </a:solidFill>
          <a:ln cap="flat" cmpd="sng" w="10275">
            <a:solidFill>
              <a:srgbClr val="D4E2F7"/>
            </a:solidFill>
            <a:prstDash val="solid"/>
            <a:round/>
            <a:headEnd len="sm" w="sm" type="none"/>
            <a:tailEnd len="sm" w="sm" type="none"/>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89" name="Google Shape;89;p17"/>
          <p:cNvSpPr/>
          <p:nvPr/>
        </p:nvSpPr>
        <p:spPr>
          <a:xfrm>
            <a:off x="6192827" y="1283719"/>
            <a:ext cx="88800" cy="1717800"/>
          </a:xfrm>
          <a:prstGeom prst="roundRect">
            <a:avLst>
              <a:gd fmla="val 16667" name="adj"/>
            </a:avLst>
          </a:prstGeom>
          <a:solidFill>
            <a:srgbClr val="00B4D8"/>
          </a:solidFill>
          <a:ln>
            <a:noFill/>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90" name="Google Shape;90;p17"/>
          <p:cNvSpPr/>
          <p:nvPr/>
        </p:nvSpPr>
        <p:spPr>
          <a:xfrm>
            <a:off x="6399697" y="1401930"/>
            <a:ext cx="2434200" cy="369300"/>
          </a:xfrm>
          <a:prstGeom prst="rect">
            <a:avLst/>
          </a:prstGeom>
          <a:noFill/>
          <a:ln>
            <a:noFill/>
          </a:ln>
        </p:spPr>
        <p:txBody>
          <a:bodyPr anchorCtr="0" anchor="ctr" bIns="36925" lIns="73875" spcFirstLastPara="1" rIns="73875" wrap="square" tIns="36925">
            <a:noAutofit/>
          </a:bodyPr>
          <a:lstStyle/>
          <a:p>
            <a:pPr indent="0" lvl="0" marL="0" marR="0" rtl="0" algn="l">
              <a:spcBef>
                <a:spcPts val="0"/>
              </a:spcBef>
              <a:spcAft>
                <a:spcPts val="0"/>
              </a:spcAft>
              <a:buClr>
                <a:srgbClr val="1E2761"/>
              </a:buClr>
              <a:buSzPts val="1293"/>
              <a:buFont typeface="Trebuchet MS"/>
              <a:buNone/>
            </a:pPr>
            <a:r>
              <a:rPr b="1" i="0" lang="en-GB" sz="1293" u="none" cap="none" strike="noStrike">
                <a:solidFill>
                  <a:srgbClr val="1E2761"/>
                </a:solidFill>
                <a:latin typeface="Trebuchet MS"/>
                <a:ea typeface="Trebuchet MS"/>
                <a:cs typeface="Trebuchet MS"/>
                <a:sym typeface="Trebuchet MS"/>
              </a:rPr>
              <a:t>Examples</a:t>
            </a:r>
            <a:endParaRPr b="0" i="0" sz="1293" u="none" cap="none" strike="noStrike">
              <a:solidFill>
                <a:srgbClr val="000000"/>
              </a:solidFill>
              <a:latin typeface="Calibri"/>
              <a:ea typeface="Calibri"/>
              <a:cs typeface="Calibri"/>
              <a:sym typeface="Calibri"/>
            </a:endParaRPr>
          </a:p>
        </p:txBody>
      </p:sp>
      <p:sp>
        <p:nvSpPr>
          <p:cNvPr id="91" name="Google Shape;91;p17"/>
          <p:cNvSpPr/>
          <p:nvPr/>
        </p:nvSpPr>
        <p:spPr>
          <a:xfrm>
            <a:off x="6399697" y="1786116"/>
            <a:ext cx="2434200" cy="1089900"/>
          </a:xfrm>
          <a:prstGeom prst="rect">
            <a:avLst/>
          </a:prstGeom>
          <a:noFill/>
          <a:ln>
            <a:noFill/>
          </a:ln>
        </p:spPr>
        <p:txBody>
          <a:bodyPr anchorCtr="0" anchor="t" bIns="36925" lIns="73875" spcFirstLastPara="1" rIns="73875" wrap="square" tIns="36925">
            <a:noAutofit/>
          </a:bodyPr>
          <a:lstStyle/>
          <a:p>
            <a:pPr indent="0" lvl="0" marL="0" marR="0" rtl="0" algn="l">
              <a:lnSpc>
                <a:spcPct val="103000"/>
              </a:lnSpc>
              <a:spcBef>
                <a:spcPts val="0"/>
              </a:spcBef>
              <a:spcAft>
                <a:spcPts val="0"/>
              </a:spcAft>
              <a:buClr>
                <a:srgbClr val="1A1A2E"/>
              </a:buClr>
              <a:buSzPts val="1091"/>
              <a:buFont typeface="Calibri"/>
              <a:buNone/>
            </a:pPr>
            <a:r>
              <a:rPr lang="en-GB" sz="1091">
                <a:solidFill>
                  <a:srgbClr val="1A1A2E"/>
                </a:solidFill>
                <a:latin typeface="Calibri"/>
                <a:ea typeface="Calibri"/>
                <a:cs typeface="Calibri"/>
                <a:sym typeface="Calibri"/>
              </a:rPr>
              <a:t>Good Health (3), </a:t>
            </a:r>
            <a:r>
              <a:rPr b="0" i="0" lang="en-GB" sz="1091" u="none" cap="none" strike="noStrike">
                <a:solidFill>
                  <a:srgbClr val="1A1A2E"/>
                </a:solidFill>
                <a:latin typeface="Calibri"/>
                <a:ea typeface="Calibri"/>
                <a:cs typeface="Calibri"/>
                <a:sym typeface="Calibri"/>
              </a:rPr>
              <a:t>Quality Education (4), and</a:t>
            </a:r>
            <a:r>
              <a:rPr lang="en-GB" sz="1091">
                <a:solidFill>
                  <a:srgbClr val="1A1A2E"/>
                </a:solidFill>
                <a:latin typeface="Calibri"/>
                <a:ea typeface="Calibri"/>
                <a:cs typeface="Calibri"/>
                <a:sym typeface="Calibri"/>
              </a:rPr>
              <a:t> </a:t>
            </a:r>
            <a:r>
              <a:rPr lang="en-GB" sz="1091">
                <a:solidFill>
                  <a:srgbClr val="1A1A2E"/>
                </a:solidFill>
                <a:latin typeface="Calibri"/>
                <a:ea typeface="Calibri"/>
                <a:cs typeface="Calibri"/>
                <a:sym typeface="Calibri"/>
              </a:rPr>
              <a:t>innovation</a:t>
            </a:r>
            <a:r>
              <a:rPr lang="en-GB" sz="1091">
                <a:solidFill>
                  <a:srgbClr val="1A1A2E"/>
                </a:solidFill>
                <a:latin typeface="Calibri"/>
                <a:ea typeface="Calibri"/>
                <a:cs typeface="Calibri"/>
                <a:sym typeface="Calibri"/>
              </a:rPr>
              <a:t> and </a:t>
            </a:r>
            <a:r>
              <a:rPr lang="en-GB" sz="1091">
                <a:solidFill>
                  <a:srgbClr val="1A1A2E"/>
                </a:solidFill>
                <a:latin typeface="Calibri"/>
                <a:ea typeface="Calibri"/>
                <a:cs typeface="Calibri"/>
                <a:sym typeface="Calibri"/>
              </a:rPr>
              <a:t>infrastructure</a:t>
            </a:r>
            <a:r>
              <a:rPr lang="en-GB" sz="1091">
                <a:solidFill>
                  <a:srgbClr val="1A1A2E"/>
                </a:solidFill>
                <a:latin typeface="Calibri"/>
                <a:ea typeface="Calibri"/>
                <a:cs typeface="Calibri"/>
                <a:sym typeface="Calibri"/>
              </a:rPr>
              <a:t>(9)</a:t>
            </a:r>
            <a:endParaRPr b="0" i="0" sz="1091" u="none" cap="none" strike="noStrike">
              <a:solidFill>
                <a:srgbClr val="000000"/>
              </a:solidFill>
              <a:latin typeface="Calibri"/>
              <a:ea typeface="Calibri"/>
              <a:cs typeface="Calibri"/>
              <a:sym typeface="Calibri"/>
            </a:endParaRPr>
          </a:p>
        </p:txBody>
      </p:sp>
      <p:sp>
        <p:nvSpPr>
          <p:cNvPr id="92" name="Google Shape;92;p17"/>
          <p:cNvSpPr/>
          <p:nvPr/>
        </p:nvSpPr>
        <p:spPr>
          <a:xfrm>
            <a:off x="142875" y="3260060"/>
            <a:ext cx="2766300" cy="1717800"/>
          </a:xfrm>
          <a:prstGeom prst="roundRect">
            <a:avLst>
              <a:gd fmla="val 4301" name="adj"/>
            </a:avLst>
          </a:prstGeom>
          <a:solidFill>
            <a:srgbClr val="E7EEFB"/>
          </a:solidFill>
          <a:ln cap="flat" cmpd="sng" w="10275">
            <a:solidFill>
              <a:srgbClr val="D4E2F7"/>
            </a:solidFill>
            <a:prstDash val="solid"/>
            <a:round/>
            <a:headEnd len="sm" w="sm" type="none"/>
            <a:tailEnd len="sm" w="sm" type="none"/>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93" name="Google Shape;93;p17"/>
          <p:cNvSpPr/>
          <p:nvPr/>
        </p:nvSpPr>
        <p:spPr>
          <a:xfrm>
            <a:off x="142875" y="3260060"/>
            <a:ext cx="88800" cy="1717800"/>
          </a:xfrm>
          <a:prstGeom prst="roundRect">
            <a:avLst>
              <a:gd fmla="val 16667" name="adj"/>
            </a:avLst>
          </a:prstGeom>
          <a:solidFill>
            <a:srgbClr val="00B4D8"/>
          </a:solidFill>
          <a:ln>
            <a:noFill/>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94" name="Google Shape;94;p17"/>
          <p:cNvSpPr/>
          <p:nvPr/>
        </p:nvSpPr>
        <p:spPr>
          <a:xfrm>
            <a:off x="349745" y="3378271"/>
            <a:ext cx="2434200" cy="369300"/>
          </a:xfrm>
          <a:prstGeom prst="rect">
            <a:avLst/>
          </a:prstGeom>
          <a:noFill/>
          <a:ln>
            <a:noFill/>
          </a:ln>
        </p:spPr>
        <p:txBody>
          <a:bodyPr anchorCtr="0" anchor="ctr" bIns="36925" lIns="73875" spcFirstLastPara="1" rIns="73875" wrap="square" tIns="36925">
            <a:noAutofit/>
          </a:bodyPr>
          <a:lstStyle/>
          <a:p>
            <a:pPr indent="0" lvl="0" marL="0" marR="0" rtl="0" algn="l">
              <a:spcBef>
                <a:spcPts val="0"/>
              </a:spcBef>
              <a:spcAft>
                <a:spcPts val="0"/>
              </a:spcAft>
              <a:buClr>
                <a:srgbClr val="1E2761"/>
              </a:buClr>
              <a:buSzPts val="1293"/>
              <a:buFont typeface="Trebuchet MS"/>
              <a:buNone/>
            </a:pPr>
            <a:r>
              <a:rPr b="1" i="0" lang="en-GB" sz="1293" u="none" cap="none" strike="noStrike">
                <a:solidFill>
                  <a:srgbClr val="1E2761"/>
                </a:solidFill>
                <a:latin typeface="Trebuchet MS"/>
                <a:ea typeface="Trebuchet MS"/>
                <a:cs typeface="Trebuchet MS"/>
                <a:sym typeface="Trebuchet MS"/>
              </a:rPr>
              <a:t>Go</a:t>
            </a:r>
            <a:r>
              <a:rPr b="1" lang="en-GB" sz="1293">
                <a:solidFill>
                  <a:srgbClr val="1E2761"/>
                </a:solidFill>
                <a:latin typeface="Trebuchet MS"/>
                <a:ea typeface="Trebuchet MS"/>
                <a:cs typeface="Trebuchet MS"/>
                <a:sym typeface="Trebuchet MS"/>
              </a:rPr>
              <a:t>od Health (GOAL 3)</a:t>
            </a:r>
            <a:endParaRPr b="0" i="0" sz="1293" u="none" cap="none" strike="noStrike">
              <a:solidFill>
                <a:srgbClr val="000000"/>
              </a:solidFill>
              <a:latin typeface="Calibri"/>
              <a:ea typeface="Calibri"/>
              <a:cs typeface="Calibri"/>
              <a:sym typeface="Calibri"/>
            </a:endParaRPr>
          </a:p>
        </p:txBody>
      </p:sp>
      <p:sp>
        <p:nvSpPr>
          <p:cNvPr id="95" name="Google Shape;95;p17"/>
          <p:cNvSpPr/>
          <p:nvPr/>
        </p:nvSpPr>
        <p:spPr>
          <a:xfrm>
            <a:off x="349745" y="3762457"/>
            <a:ext cx="2434200" cy="1089900"/>
          </a:xfrm>
          <a:prstGeom prst="rect">
            <a:avLst/>
          </a:prstGeom>
          <a:noFill/>
          <a:ln>
            <a:noFill/>
          </a:ln>
        </p:spPr>
        <p:txBody>
          <a:bodyPr anchorCtr="0" anchor="t" bIns="36925" lIns="73875" spcFirstLastPara="1" rIns="73875" wrap="square" tIns="36925">
            <a:noAutofit/>
          </a:bodyPr>
          <a:lstStyle/>
          <a:p>
            <a:pPr indent="0" lvl="0" marL="0" marR="0" rtl="0" algn="l">
              <a:lnSpc>
                <a:spcPct val="103000"/>
              </a:lnSpc>
              <a:spcBef>
                <a:spcPts val="0"/>
              </a:spcBef>
              <a:spcAft>
                <a:spcPts val="0"/>
              </a:spcAft>
              <a:buClr>
                <a:srgbClr val="1A1A2E"/>
              </a:buClr>
              <a:buSzPts val="1091"/>
              <a:buFont typeface="Calibri"/>
              <a:buNone/>
            </a:pPr>
            <a:r>
              <a:rPr lang="en-GB" sz="1091">
                <a:solidFill>
                  <a:srgbClr val="1A1A2E"/>
                </a:solidFill>
                <a:latin typeface="Calibri"/>
                <a:ea typeface="Calibri"/>
                <a:cs typeface="Calibri"/>
                <a:sym typeface="Calibri"/>
              </a:rPr>
              <a:t>An app that can help users to wake up on time and it promotes productivity and time management.</a:t>
            </a:r>
            <a:endParaRPr b="0" i="0" sz="1091" u="none" cap="none" strike="noStrike">
              <a:solidFill>
                <a:srgbClr val="000000"/>
              </a:solidFill>
              <a:latin typeface="Calibri"/>
              <a:ea typeface="Calibri"/>
              <a:cs typeface="Calibri"/>
              <a:sym typeface="Calibri"/>
            </a:endParaRPr>
          </a:p>
        </p:txBody>
      </p:sp>
      <p:sp>
        <p:nvSpPr>
          <p:cNvPr id="96" name="Google Shape;96;p17"/>
          <p:cNvSpPr/>
          <p:nvPr/>
        </p:nvSpPr>
        <p:spPr>
          <a:xfrm>
            <a:off x="3167851" y="3260060"/>
            <a:ext cx="2766300" cy="1717800"/>
          </a:xfrm>
          <a:prstGeom prst="roundRect">
            <a:avLst>
              <a:gd fmla="val 4301" name="adj"/>
            </a:avLst>
          </a:prstGeom>
          <a:solidFill>
            <a:srgbClr val="E7EEFB"/>
          </a:solidFill>
          <a:ln cap="flat" cmpd="sng" w="10275">
            <a:solidFill>
              <a:srgbClr val="D4E2F7"/>
            </a:solidFill>
            <a:prstDash val="solid"/>
            <a:round/>
            <a:headEnd len="sm" w="sm" type="none"/>
            <a:tailEnd len="sm" w="sm" type="none"/>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97" name="Google Shape;97;p17"/>
          <p:cNvSpPr/>
          <p:nvPr/>
        </p:nvSpPr>
        <p:spPr>
          <a:xfrm>
            <a:off x="3167851" y="3260060"/>
            <a:ext cx="88800" cy="1717800"/>
          </a:xfrm>
          <a:prstGeom prst="roundRect">
            <a:avLst>
              <a:gd fmla="val 16667" name="adj"/>
            </a:avLst>
          </a:prstGeom>
          <a:solidFill>
            <a:srgbClr val="00B4D8"/>
          </a:solidFill>
          <a:ln>
            <a:noFill/>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98" name="Google Shape;98;p17"/>
          <p:cNvSpPr/>
          <p:nvPr/>
        </p:nvSpPr>
        <p:spPr>
          <a:xfrm>
            <a:off x="3374720" y="3378271"/>
            <a:ext cx="2434200" cy="369300"/>
          </a:xfrm>
          <a:prstGeom prst="rect">
            <a:avLst/>
          </a:prstGeom>
          <a:noFill/>
          <a:ln>
            <a:noFill/>
          </a:ln>
        </p:spPr>
        <p:txBody>
          <a:bodyPr anchorCtr="0" anchor="ctr" bIns="36925" lIns="73875" spcFirstLastPara="1" rIns="73875" wrap="square" tIns="36925">
            <a:noAutofit/>
          </a:bodyPr>
          <a:lstStyle/>
          <a:p>
            <a:pPr indent="0" lvl="0" marL="0" marR="0" rtl="0" algn="l">
              <a:spcBef>
                <a:spcPts val="0"/>
              </a:spcBef>
              <a:spcAft>
                <a:spcPts val="0"/>
              </a:spcAft>
              <a:buClr>
                <a:srgbClr val="1E2761"/>
              </a:buClr>
              <a:buSzPts val="1293"/>
              <a:buFont typeface="Trebuchet MS"/>
              <a:buNone/>
            </a:pPr>
            <a:r>
              <a:rPr b="1" lang="en-GB" sz="1293">
                <a:solidFill>
                  <a:srgbClr val="1E2761"/>
                </a:solidFill>
                <a:latin typeface="Trebuchet MS"/>
                <a:ea typeface="Trebuchet MS"/>
                <a:cs typeface="Trebuchet MS"/>
                <a:sym typeface="Trebuchet MS"/>
              </a:rPr>
              <a:t>Quality Education (GOAL 4)</a:t>
            </a:r>
            <a:endParaRPr b="0" i="0" sz="1293" u="none" cap="none" strike="noStrike">
              <a:solidFill>
                <a:srgbClr val="000000"/>
              </a:solidFill>
              <a:latin typeface="Calibri"/>
              <a:ea typeface="Calibri"/>
              <a:cs typeface="Calibri"/>
              <a:sym typeface="Calibri"/>
            </a:endParaRPr>
          </a:p>
        </p:txBody>
      </p:sp>
      <p:sp>
        <p:nvSpPr>
          <p:cNvPr id="99" name="Google Shape;99;p17"/>
          <p:cNvSpPr/>
          <p:nvPr/>
        </p:nvSpPr>
        <p:spPr>
          <a:xfrm>
            <a:off x="3374720" y="3762457"/>
            <a:ext cx="2434200" cy="1089900"/>
          </a:xfrm>
          <a:prstGeom prst="rect">
            <a:avLst/>
          </a:prstGeom>
          <a:noFill/>
          <a:ln>
            <a:noFill/>
          </a:ln>
        </p:spPr>
        <p:txBody>
          <a:bodyPr anchorCtr="0" anchor="t" bIns="36925" lIns="73875" spcFirstLastPara="1" rIns="73875" wrap="square" tIns="36925">
            <a:noAutofit/>
          </a:bodyPr>
          <a:lstStyle/>
          <a:p>
            <a:pPr indent="0" lvl="0" marL="0" marR="0" rtl="0" algn="l">
              <a:lnSpc>
                <a:spcPct val="103000"/>
              </a:lnSpc>
              <a:spcBef>
                <a:spcPts val="0"/>
              </a:spcBef>
              <a:spcAft>
                <a:spcPts val="0"/>
              </a:spcAft>
              <a:buClr>
                <a:srgbClr val="1A1A2E"/>
              </a:buClr>
              <a:buSzPts val="1091"/>
              <a:buFont typeface="Calibri"/>
              <a:buNone/>
            </a:pPr>
            <a:r>
              <a:rPr lang="en-GB" sz="1091">
                <a:solidFill>
                  <a:srgbClr val="1A1A2E"/>
                </a:solidFill>
                <a:latin typeface="Calibri"/>
                <a:ea typeface="Calibri"/>
                <a:cs typeface="Calibri"/>
                <a:sym typeface="Calibri"/>
              </a:rPr>
              <a:t>The app allows users to be on time for school instead of waking up late and not being on time, which can </a:t>
            </a:r>
            <a:r>
              <a:rPr lang="en-GB" sz="1091">
                <a:solidFill>
                  <a:srgbClr val="1A1A2E"/>
                </a:solidFill>
                <a:latin typeface="Calibri"/>
                <a:ea typeface="Calibri"/>
                <a:cs typeface="Calibri"/>
                <a:sym typeface="Calibri"/>
              </a:rPr>
              <a:t>affect</a:t>
            </a:r>
            <a:r>
              <a:rPr lang="en-GB" sz="1091">
                <a:solidFill>
                  <a:srgbClr val="1A1A2E"/>
                </a:solidFill>
                <a:latin typeface="Calibri"/>
                <a:ea typeface="Calibri"/>
                <a:cs typeface="Calibri"/>
                <a:sym typeface="Calibri"/>
              </a:rPr>
              <a:t> their study.</a:t>
            </a:r>
            <a:endParaRPr b="0" i="0" sz="1091" u="none" cap="none" strike="noStrike">
              <a:solidFill>
                <a:srgbClr val="000000"/>
              </a:solidFill>
              <a:latin typeface="Calibri"/>
              <a:ea typeface="Calibri"/>
              <a:cs typeface="Calibri"/>
              <a:sym typeface="Calibri"/>
            </a:endParaRPr>
          </a:p>
        </p:txBody>
      </p:sp>
      <p:sp>
        <p:nvSpPr>
          <p:cNvPr id="100" name="Google Shape;100;p17"/>
          <p:cNvSpPr/>
          <p:nvPr/>
        </p:nvSpPr>
        <p:spPr>
          <a:xfrm>
            <a:off x="6192827" y="3260060"/>
            <a:ext cx="2766300" cy="1717800"/>
          </a:xfrm>
          <a:prstGeom prst="roundRect">
            <a:avLst>
              <a:gd fmla="val 4301" name="adj"/>
            </a:avLst>
          </a:prstGeom>
          <a:solidFill>
            <a:srgbClr val="E7EEFB"/>
          </a:solidFill>
          <a:ln cap="flat" cmpd="sng" w="10275">
            <a:solidFill>
              <a:srgbClr val="D4E2F7"/>
            </a:solidFill>
            <a:prstDash val="solid"/>
            <a:round/>
            <a:headEnd len="sm" w="sm" type="none"/>
            <a:tailEnd len="sm" w="sm" type="none"/>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101" name="Google Shape;101;p17"/>
          <p:cNvSpPr/>
          <p:nvPr/>
        </p:nvSpPr>
        <p:spPr>
          <a:xfrm>
            <a:off x="6192827" y="3260060"/>
            <a:ext cx="88800" cy="1717800"/>
          </a:xfrm>
          <a:prstGeom prst="roundRect">
            <a:avLst>
              <a:gd fmla="val 16667" name="adj"/>
            </a:avLst>
          </a:prstGeom>
          <a:solidFill>
            <a:srgbClr val="00B4D8"/>
          </a:solidFill>
          <a:ln>
            <a:noFill/>
          </a:ln>
        </p:spPr>
        <p:txBody>
          <a:bodyPr anchorCtr="0" anchor="ctr" bIns="73875" lIns="73875" spcFirstLastPara="1" rIns="73875" wrap="square" tIns="73875">
            <a:noAutofit/>
          </a:bodyPr>
          <a:lstStyle/>
          <a:p>
            <a:pPr indent="0" lvl="0" marL="0" rtl="0" algn="l">
              <a:spcBef>
                <a:spcPts val="0"/>
              </a:spcBef>
              <a:spcAft>
                <a:spcPts val="0"/>
              </a:spcAft>
              <a:buNone/>
            </a:pPr>
            <a:r>
              <a:t/>
            </a:r>
            <a:endParaRPr/>
          </a:p>
        </p:txBody>
      </p:sp>
      <p:sp>
        <p:nvSpPr>
          <p:cNvPr id="102" name="Google Shape;102;p17"/>
          <p:cNvSpPr/>
          <p:nvPr/>
        </p:nvSpPr>
        <p:spPr>
          <a:xfrm>
            <a:off x="6399697" y="3378271"/>
            <a:ext cx="2434200" cy="369300"/>
          </a:xfrm>
          <a:prstGeom prst="rect">
            <a:avLst/>
          </a:prstGeom>
          <a:noFill/>
          <a:ln>
            <a:noFill/>
          </a:ln>
        </p:spPr>
        <p:txBody>
          <a:bodyPr anchorCtr="0" anchor="ctr" bIns="36925" lIns="73875" spcFirstLastPara="1" rIns="73875" wrap="square" tIns="36925">
            <a:noAutofit/>
          </a:bodyPr>
          <a:lstStyle/>
          <a:p>
            <a:pPr indent="0" lvl="0" marL="0" marR="0" rtl="0" algn="l">
              <a:spcBef>
                <a:spcPts val="0"/>
              </a:spcBef>
              <a:spcAft>
                <a:spcPts val="0"/>
              </a:spcAft>
              <a:buClr>
                <a:srgbClr val="1E2761"/>
              </a:buClr>
              <a:buSzPts val="1293"/>
              <a:buFont typeface="Trebuchet MS"/>
              <a:buNone/>
            </a:pPr>
            <a:r>
              <a:rPr b="1" lang="en-GB" sz="1293">
                <a:solidFill>
                  <a:srgbClr val="1E2761"/>
                </a:solidFill>
                <a:latin typeface="Trebuchet MS"/>
                <a:ea typeface="Trebuchet MS"/>
                <a:cs typeface="Trebuchet MS"/>
                <a:sym typeface="Trebuchet MS"/>
              </a:rPr>
              <a:t>Innovation and infrastructure (GOAL 9)</a:t>
            </a:r>
            <a:endParaRPr b="0" i="0" sz="1293" u="none" cap="none" strike="noStrike">
              <a:solidFill>
                <a:srgbClr val="000000"/>
              </a:solidFill>
              <a:latin typeface="Calibri"/>
              <a:ea typeface="Calibri"/>
              <a:cs typeface="Calibri"/>
              <a:sym typeface="Calibri"/>
            </a:endParaRPr>
          </a:p>
        </p:txBody>
      </p:sp>
      <p:sp>
        <p:nvSpPr>
          <p:cNvPr id="103" name="Google Shape;103;p17"/>
          <p:cNvSpPr/>
          <p:nvPr/>
        </p:nvSpPr>
        <p:spPr>
          <a:xfrm>
            <a:off x="6399697" y="3762457"/>
            <a:ext cx="2434200" cy="1089900"/>
          </a:xfrm>
          <a:prstGeom prst="rect">
            <a:avLst/>
          </a:prstGeom>
          <a:noFill/>
          <a:ln>
            <a:noFill/>
          </a:ln>
        </p:spPr>
        <p:txBody>
          <a:bodyPr anchorCtr="0" anchor="t" bIns="36925" lIns="73875" spcFirstLastPara="1" rIns="73875" wrap="square" tIns="36925">
            <a:noAutofit/>
          </a:bodyPr>
          <a:lstStyle/>
          <a:p>
            <a:pPr indent="0" lvl="0" marL="0" marR="0" rtl="0" algn="l">
              <a:lnSpc>
                <a:spcPct val="103000"/>
              </a:lnSpc>
              <a:spcBef>
                <a:spcPts val="0"/>
              </a:spcBef>
              <a:spcAft>
                <a:spcPts val="0"/>
              </a:spcAft>
              <a:buClr>
                <a:srgbClr val="1A1A2E"/>
              </a:buClr>
              <a:buSzPts val="1091"/>
              <a:buFont typeface="Calibri"/>
              <a:buNone/>
            </a:pPr>
            <a:r>
              <a:rPr lang="en-GB" sz="1091">
                <a:latin typeface="Calibri"/>
                <a:ea typeface="Calibri"/>
                <a:cs typeface="Calibri"/>
                <a:sym typeface="Calibri"/>
              </a:rPr>
              <a:t>Uses innovative AI technology to solve a real-world problem affecting teenagers. </a:t>
            </a:r>
            <a:endParaRPr b="0" i="0" sz="1091"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Gantt</a:t>
            </a:r>
            <a:r>
              <a:rPr lang="en-GB"/>
              <a:t> Chart</a:t>
            </a:r>
            <a:endParaRPr/>
          </a:p>
        </p:txBody>
      </p:sp>
      <p:sp>
        <p:nvSpPr>
          <p:cNvPr id="109" name="Google Shape;10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0" name="Google Shape;110;p18" title="Online Gantt 20260624 (1).png"/>
          <p:cNvPicPr preferRelativeResize="0"/>
          <p:nvPr/>
        </p:nvPicPr>
        <p:blipFill>
          <a:blip r:embed="rId3">
            <a:alphaModFix/>
          </a:blip>
          <a:stretch>
            <a:fillRect/>
          </a:stretch>
        </p:blipFill>
        <p:spPr>
          <a:xfrm>
            <a:off x="0" y="426275"/>
            <a:ext cx="9144001" cy="4717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235575" y="249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1.2 Data collection</a:t>
            </a:r>
            <a:endParaRPr/>
          </a:p>
        </p:txBody>
      </p:sp>
      <p:sp>
        <p:nvSpPr>
          <p:cNvPr id="116" name="Google Shape;116;p19"/>
          <p:cNvSpPr txBox="1"/>
          <p:nvPr>
            <p:ph idx="1" type="body"/>
          </p:nvPr>
        </p:nvSpPr>
        <p:spPr>
          <a:xfrm>
            <a:off x="235575" y="12085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Method used</a:t>
            </a:r>
            <a:endParaRPr/>
          </a:p>
          <a:p>
            <a:pPr indent="-330200" lvl="0" marL="457200" rtl="0" algn="l">
              <a:spcBef>
                <a:spcPts val="1200"/>
              </a:spcBef>
              <a:spcAft>
                <a:spcPts val="0"/>
              </a:spcAft>
              <a:buSzPts val="1600"/>
              <a:buChar char="●"/>
            </a:pPr>
            <a:r>
              <a:rPr lang="en-GB" sz="1600"/>
              <a:t>We created and shared a survey with our IT classmates</a:t>
            </a:r>
            <a:endParaRPr sz="1600"/>
          </a:p>
          <a:p>
            <a:pPr indent="-330200" lvl="0" marL="457200" rtl="0" algn="l">
              <a:spcBef>
                <a:spcPts val="0"/>
              </a:spcBef>
              <a:spcAft>
                <a:spcPts val="0"/>
              </a:spcAft>
              <a:buSzPts val="1600"/>
              <a:buChar char="●"/>
            </a:pPr>
            <a:r>
              <a:rPr lang="en-GB" sz="1600"/>
              <a:t>The survey has multiple choice questions for quick and easy answers for the people responding to our survey</a:t>
            </a:r>
            <a:endParaRPr sz="1600"/>
          </a:p>
          <a:p>
            <a:pPr indent="-330200" lvl="0" marL="457200" rtl="0" algn="l">
              <a:spcBef>
                <a:spcPts val="0"/>
              </a:spcBef>
              <a:spcAft>
                <a:spcPts val="0"/>
              </a:spcAft>
              <a:buSzPts val="1600"/>
              <a:buChar char="●"/>
            </a:pPr>
            <a:r>
              <a:rPr lang="en-GB" sz="1600"/>
              <a:t>This method of using a survey helped us get data from our classmates to further upgrade our ideas.</a:t>
            </a:r>
            <a:endParaRPr sz="1600"/>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235575" y="249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1.2 Data collection</a:t>
            </a:r>
            <a:endParaRPr/>
          </a:p>
        </p:txBody>
      </p:sp>
      <p:sp>
        <p:nvSpPr>
          <p:cNvPr id="122" name="Google Shape;122;p20"/>
          <p:cNvSpPr txBox="1"/>
          <p:nvPr>
            <p:ph idx="1" type="body"/>
          </p:nvPr>
        </p:nvSpPr>
        <p:spPr>
          <a:xfrm>
            <a:off x="235575" y="12085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1"/>
                </a:solidFill>
              </a:rPr>
              <a:t>Data Collected</a:t>
            </a:r>
            <a:endParaRPr sz="1500">
              <a:solidFill>
                <a:schemeClr val="dk1"/>
              </a:solidFill>
            </a:endParaRPr>
          </a:p>
          <a:p>
            <a:pPr indent="-323850" lvl="0" marL="457200" rtl="0" algn="l">
              <a:spcBef>
                <a:spcPts val="1200"/>
              </a:spcBef>
              <a:spcAft>
                <a:spcPts val="0"/>
              </a:spcAft>
              <a:buClr>
                <a:schemeClr val="dk1"/>
              </a:buClr>
              <a:buSzPts val="1500"/>
              <a:buChar char="●"/>
            </a:pPr>
            <a:r>
              <a:rPr b="1" lang="en-GB" sz="1500">
                <a:solidFill>
                  <a:schemeClr val="dk1"/>
                </a:solidFill>
              </a:rPr>
              <a:t>The biggest reason why students don’t wake up in the morning</a:t>
            </a:r>
            <a:r>
              <a:rPr lang="en-GB" sz="1500">
                <a:solidFill>
                  <a:schemeClr val="dk1"/>
                </a:solidFill>
              </a:rPr>
              <a:t>: Gaming,homework,sleep quality etc</a:t>
            </a:r>
            <a:endParaRPr sz="1500">
              <a:solidFill>
                <a:schemeClr val="dk1"/>
              </a:solidFill>
            </a:endParaRPr>
          </a:p>
          <a:p>
            <a:pPr indent="-323850" lvl="0" marL="457200" rtl="0" algn="l">
              <a:spcBef>
                <a:spcPts val="0"/>
              </a:spcBef>
              <a:spcAft>
                <a:spcPts val="0"/>
              </a:spcAft>
              <a:buClr>
                <a:schemeClr val="dk1"/>
              </a:buClr>
              <a:buSzPts val="1500"/>
              <a:buChar char="●"/>
            </a:pPr>
            <a:r>
              <a:rPr b="1" lang="en-GB" sz="1500">
                <a:solidFill>
                  <a:schemeClr val="dk1"/>
                </a:solidFill>
              </a:rPr>
              <a:t>Would people use an app that rewards you for waking up on time</a:t>
            </a:r>
            <a:r>
              <a:rPr lang="en-GB" sz="1500">
                <a:solidFill>
                  <a:schemeClr val="dk1"/>
                </a:solidFill>
              </a:rPr>
              <a:t>: yes, no probably,probably not</a:t>
            </a:r>
            <a:endParaRPr sz="1500">
              <a:solidFill>
                <a:schemeClr val="dk1"/>
              </a:solidFill>
            </a:endParaRPr>
          </a:p>
          <a:p>
            <a:pPr indent="-323850" lvl="0" marL="457200" rtl="0" algn="l">
              <a:spcBef>
                <a:spcPts val="0"/>
              </a:spcBef>
              <a:spcAft>
                <a:spcPts val="0"/>
              </a:spcAft>
              <a:buClr>
                <a:schemeClr val="dk1"/>
              </a:buClr>
              <a:buSzPts val="1500"/>
              <a:buChar char="●"/>
            </a:pPr>
            <a:r>
              <a:rPr b="1" lang="en-GB" sz="1500">
                <a:solidFill>
                  <a:schemeClr val="dk1"/>
                </a:solidFill>
              </a:rPr>
              <a:t>Which features would motivate the user to use our app:</a:t>
            </a:r>
            <a:r>
              <a:rPr lang="en-GB" sz="1500">
                <a:solidFill>
                  <a:schemeClr val="dk1"/>
                </a:solidFill>
              </a:rPr>
              <a:t> </a:t>
            </a:r>
            <a:r>
              <a:rPr lang="en-GB" sz="1500">
                <a:solidFill>
                  <a:schemeClr val="dk1"/>
                </a:solidFill>
                <a:highlight>
                  <a:srgbClr val="FFFFFF"/>
                </a:highlight>
                <a:latin typeface="Roboto"/>
                <a:ea typeface="Roboto"/>
                <a:cs typeface="Roboto"/>
                <a:sym typeface="Roboto"/>
              </a:rPr>
              <a:t>Leaderboards, Digital avatar customisation, Unlockable skins. Competing with friends Clan/team competitions, Daily Streaks, Achievement badges, Real rewards (giftcards, or discounts with the premium plan) ,Sleep tracking</a:t>
            </a:r>
            <a:endParaRPr sz="15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Survey </a:t>
            </a:r>
            <a:endParaRPr/>
          </a:p>
        </p:txBody>
      </p:sp>
      <p:sp>
        <p:nvSpPr>
          <p:cNvPr id="128" name="Google Shape;12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u="sng">
                <a:solidFill>
                  <a:schemeClr val="hlink"/>
                </a:solidFill>
                <a:hlinkClick r:id="rId3"/>
              </a:rPr>
              <a:t>Survey</a:t>
            </a:r>
            <a:r>
              <a:rPr lang="en-GB"/>
              <a:t>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u="sng">
                <a:solidFill>
                  <a:schemeClr val="hlink"/>
                </a:solidFill>
                <a:hlinkClick r:id="rId4"/>
              </a:rPr>
              <a:t>https://app.base44.com/invite/link/DD9va7Wjmz6A</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Functional requirements</a:t>
            </a:r>
            <a:endParaRPr/>
          </a:p>
        </p:txBody>
      </p:sp>
      <p:sp>
        <p:nvSpPr>
          <p:cNvPr id="134" name="Google Shape;13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317183" lvl="0" marL="457200" rtl="0" algn="l">
              <a:spcBef>
                <a:spcPts val="0"/>
              </a:spcBef>
              <a:spcAft>
                <a:spcPts val="0"/>
              </a:spcAft>
              <a:buClr>
                <a:schemeClr val="dk1"/>
              </a:buClr>
              <a:buSzPct val="100000"/>
              <a:buAutoNum type="arabicPeriod"/>
            </a:pPr>
            <a:r>
              <a:rPr b="1" lang="en-GB">
                <a:solidFill>
                  <a:schemeClr val="dk1"/>
                </a:solidFill>
              </a:rPr>
              <a:t>User accounts and Profiles:</a:t>
            </a:r>
            <a:r>
              <a:rPr lang="en-GB">
                <a:solidFill>
                  <a:schemeClr val="dk1"/>
                </a:solidFill>
              </a:rPr>
              <a:t> The app must allow users to create an account and link it to their emails to store data points and rankings. </a:t>
            </a:r>
            <a:endParaRPr>
              <a:solidFill>
                <a:schemeClr val="dk1"/>
              </a:solidFill>
            </a:endParaRPr>
          </a:p>
          <a:p>
            <a:pPr indent="-317183" lvl="0" marL="457200" rtl="0" algn="l">
              <a:spcBef>
                <a:spcPts val="0"/>
              </a:spcBef>
              <a:spcAft>
                <a:spcPts val="0"/>
              </a:spcAft>
              <a:buClr>
                <a:schemeClr val="dk1"/>
              </a:buClr>
              <a:buSzPct val="100000"/>
              <a:buAutoNum type="arabicPeriod"/>
            </a:pPr>
            <a:r>
              <a:rPr b="1" lang="en-GB">
                <a:solidFill>
                  <a:schemeClr val="dk1"/>
                </a:solidFill>
              </a:rPr>
              <a:t>Alarm System:</a:t>
            </a:r>
            <a:r>
              <a:rPr lang="en-GB">
                <a:solidFill>
                  <a:schemeClr val="dk1"/>
                </a:solidFill>
              </a:rPr>
              <a:t> The app must let users set alarms so that they can get up early and complete their required tasks</a:t>
            </a:r>
            <a:endParaRPr>
              <a:solidFill>
                <a:schemeClr val="dk1"/>
              </a:solidFill>
            </a:endParaRPr>
          </a:p>
          <a:p>
            <a:pPr indent="-317183" lvl="0" marL="457200" rtl="0" algn="l">
              <a:spcBef>
                <a:spcPts val="0"/>
              </a:spcBef>
              <a:spcAft>
                <a:spcPts val="0"/>
              </a:spcAft>
              <a:buClr>
                <a:schemeClr val="dk1"/>
              </a:buClr>
              <a:buSzPct val="100000"/>
              <a:buAutoNum type="arabicPeriod"/>
            </a:pPr>
            <a:r>
              <a:rPr b="1" lang="en-GB">
                <a:solidFill>
                  <a:schemeClr val="dk1"/>
                </a:solidFill>
              </a:rPr>
              <a:t>Reward system: </a:t>
            </a:r>
            <a:r>
              <a:rPr lang="en-GB">
                <a:solidFill>
                  <a:schemeClr val="dk1"/>
                </a:solidFill>
              </a:rPr>
              <a:t>The app must award points for completing tasks and maintaining streaks</a:t>
            </a:r>
            <a:endParaRPr>
              <a:solidFill>
                <a:schemeClr val="dk1"/>
              </a:solidFill>
            </a:endParaRPr>
          </a:p>
          <a:p>
            <a:pPr indent="-317183" lvl="0" marL="457200" rtl="0" algn="l">
              <a:spcBef>
                <a:spcPts val="0"/>
              </a:spcBef>
              <a:spcAft>
                <a:spcPts val="0"/>
              </a:spcAft>
              <a:buClr>
                <a:schemeClr val="dk1"/>
              </a:buClr>
              <a:buSzPct val="100000"/>
              <a:buAutoNum type="arabicPeriod"/>
            </a:pPr>
            <a:r>
              <a:rPr b="1" lang="en-GB">
                <a:solidFill>
                  <a:schemeClr val="dk1"/>
                </a:solidFill>
              </a:rPr>
              <a:t>Leaderboard system: </a:t>
            </a:r>
            <a:r>
              <a:rPr lang="en-GB">
                <a:solidFill>
                  <a:schemeClr val="dk1"/>
                </a:solidFill>
              </a:rPr>
              <a:t>The app must display a global leaderboard ranking all users with points  </a:t>
            </a:r>
            <a:endParaRPr>
              <a:solidFill>
                <a:schemeClr val="dk1"/>
              </a:solidFill>
            </a:endParaRPr>
          </a:p>
          <a:p>
            <a:pPr indent="-317183" lvl="0" marL="457200" rtl="0" algn="l">
              <a:spcBef>
                <a:spcPts val="0"/>
              </a:spcBef>
              <a:spcAft>
                <a:spcPts val="0"/>
              </a:spcAft>
              <a:buClr>
                <a:schemeClr val="dk1"/>
              </a:buClr>
              <a:buSzPct val="100000"/>
              <a:buAutoNum type="arabicPeriod"/>
            </a:pPr>
            <a:r>
              <a:rPr b="1" lang="en-GB">
                <a:solidFill>
                  <a:schemeClr val="dk1"/>
                </a:solidFill>
              </a:rPr>
              <a:t>Clan system:</a:t>
            </a:r>
            <a:r>
              <a:rPr lang="en-GB">
                <a:solidFill>
                  <a:schemeClr val="dk1"/>
                </a:solidFill>
              </a:rPr>
              <a:t> The app must display clans where you can join and participate in challenges to raise your clan</a:t>
            </a:r>
            <a:endParaRPr>
              <a:solidFill>
                <a:schemeClr val="dk1"/>
              </a:solidFill>
            </a:endParaRPr>
          </a:p>
          <a:p>
            <a:pPr indent="-317183" lvl="0" marL="457200" rtl="0" algn="l">
              <a:spcBef>
                <a:spcPts val="0"/>
              </a:spcBef>
              <a:spcAft>
                <a:spcPts val="0"/>
              </a:spcAft>
              <a:buClr>
                <a:schemeClr val="dk1"/>
              </a:buClr>
              <a:buSzPct val="100000"/>
              <a:buAutoNum type="arabicPeriod"/>
            </a:pPr>
            <a:r>
              <a:rPr b="1" lang="en-GB">
                <a:solidFill>
                  <a:schemeClr val="dk1"/>
                </a:solidFill>
              </a:rPr>
              <a:t>Geolocation and anti cheat:</a:t>
            </a:r>
            <a:r>
              <a:rPr lang="en-GB">
                <a:solidFill>
                  <a:schemeClr val="dk1"/>
                </a:solidFill>
              </a:rPr>
              <a:t> The app must use geolocation to negate cheating and confirm if the users has arrived at school </a:t>
            </a:r>
            <a:endParaRPr>
              <a:solidFill>
                <a:schemeClr val="dk1"/>
              </a:solidFill>
            </a:endParaRPr>
          </a:p>
          <a:p>
            <a:pPr indent="-317183" lvl="0" marL="457200" rtl="0" algn="l">
              <a:spcBef>
                <a:spcPts val="0"/>
              </a:spcBef>
              <a:spcAft>
                <a:spcPts val="0"/>
              </a:spcAft>
              <a:buClr>
                <a:schemeClr val="dk1"/>
              </a:buClr>
              <a:buSzPct val="100000"/>
              <a:buAutoNum type="arabicPeriod"/>
            </a:pPr>
            <a:r>
              <a:rPr b="1" lang="en-GB">
                <a:solidFill>
                  <a:schemeClr val="dk1"/>
                </a:solidFill>
              </a:rPr>
              <a:t>Data protection:</a:t>
            </a:r>
            <a:r>
              <a:rPr lang="en-GB">
                <a:solidFill>
                  <a:schemeClr val="dk1"/>
                </a:solidFill>
              </a:rPr>
              <a:t>The app must store user data securely and allow users to delete their account and data </a:t>
            </a:r>
            <a:endParaRPr>
              <a:solidFill>
                <a:schemeClr val="dk1"/>
              </a:solidFill>
            </a:endParaRPr>
          </a:p>
          <a:p>
            <a:pPr indent="-317183" lvl="0" marL="457200" rtl="0" algn="l">
              <a:spcBef>
                <a:spcPts val="0"/>
              </a:spcBef>
              <a:spcAft>
                <a:spcPts val="0"/>
              </a:spcAft>
              <a:buClr>
                <a:schemeClr val="dk1"/>
              </a:buClr>
              <a:buSzPct val="100000"/>
              <a:buAutoNum type="arabicPeriod"/>
            </a:pPr>
            <a:r>
              <a:rPr b="1" lang="en-GB">
                <a:solidFill>
                  <a:schemeClr val="dk1"/>
                </a:solidFill>
              </a:rPr>
              <a:t>User interface: </a:t>
            </a:r>
            <a:r>
              <a:rPr lang="en-GB">
                <a:solidFill>
                  <a:schemeClr val="dk1"/>
                </a:solidFill>
              </a:rPr>
              <a:t>The app must provide a dashboard showing sleep stats, points, avatar, next alarm, and clan status.</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Non functional requirements</a:t>
            </a:r>
            <a:endParaRPr/>
          </a:p>
        </p:txBody>
      </p:sp>
      <p:sp>
        <p:nvSpPr>
          <p:cNvPr id="140" name="Google Shape;14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a:t>The app should load within 3 seconds.</a:t>
            </a:r>
            <a:endParaRPr/>
          </a:p>
          <a:p>
            <a:pPr indent="-342900" lvl="0" marL="457200" rtl="0" algn="l">
              <a:spcBef>
                <a:spcPts val="0"/>
              </a:spcBef>
              <a:spcAft>
                <a:spcPts val="0"/>
              </a:spcAft>
              <a:buSzPts val="1800"/>
              <a:buAutoNum type="arabicPeriod"/>
            </a:pPr>
            <a:r>
              <a:rPr lang="en-GB"/>
              <a:t>The app should work on both Android and iOS devices.</a:t>
            </a:r>
            <a:endParaRPr/>
          </a:p>
          <a:p>
            <a:pPr indent="-342900" lvl="0" marL="457200" rtl="0" algn="l">
              <a:spcBef>
                <a:spcPts val="0"/>
              </a:spcBef>
              <a:spcAft>
                <a:spcPts val="0"/>
              </a:spcAft>
              <a:buSzPts val="1800"/>
              <a:buAutoNum type="arabicPeriod"/>
            </a:pPr>
            <a:r>
              <a:rPr lang="en-GB"/>
              <a:t>The interface should be visually appealing and engaging.</a:t>
            </a:r>
            <a:endParaRPr/>
          </a:p>
          <a:p>
            <a:pPr indent="-342900" lvl="0" marL="457200" rtl="0" algn="l">
              <a:spcBef>
                <a:spcPts val="0"/>
              </a:spcBef>
              <a:spcAft>
                <a:spcPts val="0"/>
              </a:spcAft>
              <a:buSzPts val="1800"/>
              <a:buAutoNum type="arabicPeriod"/>
            </a:pPr>
            <a:r>
              <a:rPr lang="en-GB"/>
              <a:t>The app should have a modern and responsive design.</a:t>
            </a:r>
            <a:endParaRPr/>
          </a:p>
          <a:p>
            <a:pPr indent="-342900" lvl="0" marL="457200" rtl="0" algn="l">
              <a:spcBef>
                <a:spcPts val="0"/>
              </a:spcBef>
              <a:spcAft>
                <a:spcPts val="0"/>
              </a:spcAft>
              <a:buSzPts val="1800"/>
              <a:buAutoNum type="arabicPeriod"/>
            </a:pPr>
            <a:r>
              <a:rPr lang="en-GB"/>
              <a:t>The avatar should be be fully customizable.</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constraints</a:t>
            </a:r>
            <a:endParaRPr/>
          </a:p>
        </p:txBody>
      </p:sp>
      <p:sp>
        <p:nvSpPr>
          <p:cNvPr id="146" name="Google Shape;14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Clr>
                <a:schemeClr val="dk1"/>
              </a:buClr>
              <a:buSzPct val="61111"/>
              <a:buFont typeface="Arial"/>
              <a:buNone/>
            </a:pPr>
            <a:r>
              <a:rPr lang="en-GB"/>
              <a:t>Economic – $0 budget and 8 weeks to do</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GB"/>
              <a:t>Legal – Privacy Act 1988 - transparency, access and correction, </a:t>
            </a:r>
            <a:r>
              <a:rPr lang="en-GB"/>
              <a:t>anonymity, marketing opt-outs. Copyright Laws.</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GB"/>
              <a:t>Social – Teenagers or young adults still in school may find it hard to stick with the app</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GB"/>
              <a:t>Technical – medium level coding skills, The app must work with phones or other mobile devices and avoid the need for advanced equipment</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61111"/>
              <a:buFont typeface="Arial"/>
              <a:buNone/>
            </a:pPr>
            <a:r>
              <a:rPr lang="en-GB"/>
              <a:t>Usability – can be accessed by </a:t>
            </a:r>
            <a:r>
              <a:rPr lang="en-GB"/>
              <a:t>everyone</a:t>
            </a:r>
            <a:r>
              <a:rPr lang="en-GB"/>
              <a:t> with a phone, easy to use and understand</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Scope </a:t>
            </a:r>
            <a:endParaRPr/>
          </a:p>
        </p:txBody>
      </p:sp>
      <p:sp>
        <p:nvSpPr>
          <p:cNvPr id="152" name="Google Shape;152;p25"/>
          <p:cNvSpPr txBox="1"/>
          <p:nvPr>
            <p:ph idx="1" type="body"/>
          </p:nvPr>
        </p:nvSpPr>
        <p:spPr>
          <a:xfrm>
            <a:off x="311700" y="10872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Inclusive: NFR 1,2,3,4 and FR 1,7,8</a:t>
            </a:r>
            <a:endParaRPr/>
          </a:p>
          <a:p>
            <a:pPr indent="0" lvl="0" marL="0" rtl="0" algn="l">
              <a:spcBef>
                <a:spcPts val="1200"/>
              </a:spcBef>
              <a:spcAft>
                <a:spcPts val="0"/>
              </a:spcAft>
              <a:buNone/>
            </a:pPr>
            <a:r>
              <a:rPr lang="en-GB"/>
              <a:t>Excluded: NFR 4,5 and FR 2,3,4,5,6</a:t>
            </a:r>
            <a:endParaRPr/>
          </a:p>
          <a:p>
            <a:pPr indent="0" lvl="0" marL="0" rtl="0" algn="l">
              <a:spcBef>
                <a:spcPts val="1200"/>
              </a:spcBef>
              <a:spcAft>
                <a:spcPts val="1200"/>
              </a:spcAft>
              <a:buNone/>
            </a:pPr>
            <a:r>
              <a:rPr lang="en-GB"/>
              <a:t>For the start of this project the non functional and functional requirements that are selected a </a:t>
            </a:r>
            <a:r>
              <a:rPr lang="en-GB"/>
              <a:t>inclusive</a:t>
            </a:r>
            <a:r>
              <a:rPr lang="en-GB"/>
              <a:t> are within the budget the app is easy to use for the target audience and will be </a:t>
            </a:r>
            <a:r>
              <a:rPr lang="en-GB"/>
              <a:t>accessible</a:t>
            </a:r>
            <a:r>
              <a:rPr lang="en-GB"/>
              <a:t> on both android and ios.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Mind Map</a:t>
            </a:r>
            <a:endParaRPr/>
          </a:p>
        </p:txBody>
      </p:sp>
      <p:sp>
        <p:nvSpPr>
          <p:cNvPr id="158" name="Google Shape;15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9" name="Google Shape;159;p26"/>
          <p:cNvPicPr preferRelativeResize="0"/>
          <p:nvPr/>
        </p:nvPicPr>
        <p:blipFill>
          <a:blip r:embed="rId3">
            <a:alphaModFix/>
          </a:blip>
          <a:stretch>
            <a:fillRect/>
          </a:stretch>
        </p:blipFill>
        <p:spPr>
          <a:xfrm>
            <a:off x="48950" y="928863"/>
            <a:ext cx="8867375" cy="4037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224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Scamper</a:t>
            </a:r>
            <a:endParaRPr/>
          </a:p>
        </p:txBody>
      </p:sp>
      <p:graphicFrame>
        <p:nvGraphicFramePr>
          <p:cNvPr id="165" name="Google Shape;165;p27"/>
          <p:cNvGraphicFramePr/>
          <p:nvPr/>
        </p:nvGraphicFramePr>
        <p:xfrm>
          <a:off x="627050" y="662725"/>
          <a:ext cx="3000000" cy="3000000"/>
        </p:xfrm>
        <a:graphic>
          <a:graphicData uri="http://schemas.openxmlformats.org/drawingml/2006/table">
            <a:tbl>
              <a:tblPr>
                <a:noFill/>
                <a:tableStyleId>{E98ED482-F35D-458F-B41A-CBEB8BBF33FB}</a:tableStyleId>
              </a:tblPr>
              <a:tblGrid>
                <a:gridCol w="1809750"/>
                <a:gridCol w="1809750"/>
                <a:gridCol w="1809750"/>
                <a:gridCol w="1809750"/>
              </a:tblGrid>
              <a:tr h="585275">
                <a:tc>
                  <a:txBody>
                    <a:bodyPr/>
                    <a:lstStyle/>
                    <a:p>
                      <a:pPr indent="0" lvl="0" marL="0" rtl="0" algn="l">
                        <a:spcBef>
                          <a:spcPts val="0"/>
                        </a:spcBef>
                        <a:spcAft>
                          <a:spcPts val="0"/>
                        </a:spcAft>
                        <a:buNone/>
                      </a:pPr>
                      <a:r>
                        <a:rPr lang="en-GB"/>
                        <a:t>Existing games/app</a:t>
                      </a:r>
                      <a:endParaRPr/>
                    </a:p>
                  </a:txBody>
                  <a:tcPr marT="91425" marB="91425" marR="91425" marL="91425"/>
                </a:tc>
                <a:tc>
                  <a:txBody>
                    <a:bodyPr/>
                    <a:lstStyle/>
                    <a:p>
                      <a:pPr indent="0" lvl="0" marL="0" rtl="0" algn="l">
                        <a:spcBef>
                          <a:spcPts val="0"/>
                        </a:spcBef>
                        <a:spcAft>
                          <a:spcPts val="0"/>
                        </a:spcAft>
                        <a:buNone/>
                      </a:pPr>
                      <a:r>
                        <a:rPr lang="en-GB"/>
                        <a:t>Environment</a:t>
                      </a:r>
                      <a:endParaRPr/>
                    </a:p>
                  </a:txBody>
                  <a:tcPr marT="91425" marB="91425" marR="91425" marL="91425"/>
                </a:tc>
                <a:tc>
                  <a:txBody>
                    <a:bodyPr/>
                    <a:lstStyle/>
                    <a:p>
                      <a:pPr indent="0" lvl="0" marL="0" rtl="0" algn="l">
                        <a:spcBef>
                          <a:spcPts val="0"/>
                        </a:spcBef>
                        <a:spcAft>
                          <a:spcPts val="0"/>
                        </a:spcAft>
                        <a:buNone/>
                      </a:pPr>
                      <a:r>
                        <a:rPr lang="en-GB"/>
                        <a:t>Scamper technique </a:t>
                      </a:r>
                      <a:endParaRPr/>
                    </a:p>
                  </a:txBody>
                  <a:tcPr marT="91425" marB="91425" marR="91425" marL="91425"/>
                </a:tc>
                <a:tc>
                  <a:txBody>
                    <a:bodyPr/>
                    <a:lstStyle/>
                    <a:p>
                      <a:pPr indent="0" lvl="0" marL="0" rtl="0" algn="l">
                        <a:spcBef>
                          <a:spcPts val="0"/>
                        </a:spcBef>
                        <a:spcAft>
                          <a:spcPts val="0"/>
                        </a:spcAft>
                        <a:buNone/>
                      </a:pPr>
                      <a:r>
                        <a:rPr lang="en-GB"/>
                        <a:t>New idea</a:t>
                      </a:r>
                      <a:endParaRPr/>
                    </a:p>
                  </a:txBody>
                  <a:tcPr marT="91425" marB="91425" marR="91425" marL="91425"/>
                </a:tc>
              </a:tr>
              <a:tr h="1530825">
                <a:tc>
                  <a:txBody>
                    <a:bodyPr/>
                    <a:lstStyle/>
                    <a:p>
                      <a:pPr indent="0" lvl="0" marL="0" rtl="0" algn="l">
                        <a:spcBef>
                          <a:spcPts val="0"/>
                        </a:spcBef>
                        <a:spcAft>
                          <a:spcPts val="0"/>
                        </a:spcAft>
                        <a:buNone/>
                      </a:pPr>
                      <a:r>
                        <a:rPr lang="en-GB" sz="1000"/>
                        <a:t>Fortnite</a:t>
                      </a:r>
                      <a:endParaRPr sz="1000"/>
                    </a:p>
                  </a:txBody>
                  <a:tcPr marT="91425" marB="91425" marR="91425" marL="91425"/>
                </a:tc>
                <a:tc>
                  <a:txBody>
                    <a:bodyPr/>
                    <a:lstStyle/>
                    <a:p>
                      <a:pPr indent="0" lvl="0" marL="0" rtl="0" algn="l">
                        <a:spcBef>
                          <a:spcPts val="0"/>
                        </a:spcBef>
                        <a:spcAft>
                          <a:spcPts val="0"/>
                        </a:spcAft>
                        <a:buNone/>
                      </a:pPr>
                      <a:r>
                        <a:rPr lang="en-GB" sz="1000"/>
                        <a:t>Computer/console screen</a:t>
                      </a:r>
                      <a:endParaRPr sz="1000"/>
                    </a:p>
                  </a:txBody>
                  <a:tcPr marT="91425" marB="91425" marR="91425" marL="91425"/>
                </a:tc>
                <a:tc>
                  <a:txBody>
                    <a:bodyPr/>
                    <a:lstStyle/>
                    <a:p>
                      <a:pPr indent="0" lvl="0" marL="0" rtl="0" algn="l">
                        <a:spcBef>
                          <a:spcPts val="0"/>
                        </a:spcBef>
                        <a:spcAft>
                          <a:spcPts val="0"/>
                        </a:spcAft>
                        <a:buNone/>
                      </a:pPr>
                      <a:r>
                        <a:rPr lang="en-GB" sz="1000"/>
                        <a:t>adapt</a:t>
                      </a:r>
                      <a:endParaRPr sz="1000"/>
                    </a:p>
                  </a:txBody>
                  <a:tcPr marT="91425" marB="91425" marR="91425" marL="91425"/>
                </a:tc>
                <a:tc>
                  <a:txBody>
                    <a:bodyPr/>
                    <a:lstStyle/>
                    <a:p>
                      <a:pPr indent="0" lvl="0" marL="0" rtl="0" algn="l">
                        <a:spcBef>
                          <a:spcPts val="0"/>
                        </a:spcBef>
                        <a:spcAft>
                          <a:spcPts val="0"/>
                        </a:spcAft>
                        <a:buNone/>
                      </a:pPr>
                      <a:r>
                        <a:rPr lang="en-GB" sz="1000"/>
                        <a:t>Skins to add to your digital avatar by opening up loot boxes</a:t>
                      </a:r>
                      <a:endParaRPr sz="1000"/>
                    </a:p>
                  </a:txBody>
                  <a:tcPr marT="91425" marB="91425" marR="91425" marL="91425"/>
                </a:tc>
              </a:tr>
              <a:tr h="1215650">
                <a:tc>
                  <a:txBody>
                    <a:bodyPr/>
                    <a:lstStyle/>
                    <a:p>
                      <a:pPr indent="0" lvl="0" marL="0" rtl="0" algn="l">
                        <a:spcBef>
                          <a:spcPts val="0"/>
                        </a:spcBef>
                        <a:spcAft>
                          <a:spcPts val="0"/>
                        </a:spcAft>
                        <a:buNone/>
                      </a:pPr>
                      <a:r>
                        <a:rPr lang="en-GB" sz="1000"/>
                        <a:t>Apex Legends</a:t>
                      </a:r>
                      <a:endParaRPr sz="1000"/>
                    </a:p>
                  </a:txBody>
                  <a:tcPr marT="91425" marB="91425" marR="91425" marL="91425"/>
                </a:tc>
                <a:tc>
                  <a:txBody>
                    <a:bodyPr/>
                    <a:lstStyle/>
                    <a:p>
                      <a:pPr indent="0" lvl="0" marL="0" rtl="0" algn="l">
                        <a:spcBef>
                          <a:spcPts val="0"/>
                        </a:spcBef>
                        <a:spcAft>
                          <a:spcPts val="0"/>
                        </a:spcAft>
                        <a:buNone/>
                      </a:pPr>
                      <a:r>
                        <a:rPr lang="en-GB" sz="1000"/>
                        <a:t>computer/console screens</a:t>
                      </a:r>
                      <a:endParaRPr sz="1000"/>
                    </a:p>
                  </a:txBody>
                  <a:tcPr marT="91425" marB="91425" marR="91425" marL="91425"/>
                </a:tc>
                <a:tc>
                  <a:txBody>
                    <a:bodyPr/>
                    <a:lstStyle/>
                    <a:p>
                      <a:pPr indent="0" lvl="0" marL="0" rtl="0" algn="l">
                        <a:spcBef>
                          <a:spcPts val="0"/>
                        </a:spcBef>
                        <a:spcAft>
                          <a:spcPts val="0"/>
                        </a:spcAft>
                        <a:buNone/>
                      </a:pPr>
                      <a:r>
                        <a:rPr lang="en-GB" sz="1000"/>
                        <a:t>subsitiute</a:t>
                      </a:r>
                      <a:endParaRPr sz="1000"/>
                    </a:p>
                  </a:txBody>
                  <a:tcPr marT="91425" marB="91425" marR="91425" marL="91425"/>
                </a:tc>
                <a:tc>
                  <a:txBody>
                    <a:bodyPr/>
                    <a:lstStyle/>
                    <a:p>
                      <a:pPr indent="0" lvl="0" marL="0" rtl="0" algn="l">
                        <a:spcBef>
                          <a:spcPts val="0"/>
                        </a:spcBef>
                        <a:spcAft>
                          <a:spcPts val="0"/>
                        </a:spcAft>
                        <a:buNone/>
                      </a:pPr>
                      <a:r>
                        <a:rPr lang="en-GB" sz="1000"/>
                        <a:t>So instead of using xp like in apex legends ours is based off completing quests to unlock lootboxes</a:t>
                      </a:r>
                      <a:endParaRPr sz="1000"/>
                    </a:p>
                  </a:txBody>
                  <a:tcPr marT="91425" marB="91425" marR="91425" marL="91425"/>
                </a:tc>
              </a:tr>
              <a:tr h="585275">
                <a:tc>
                  <a:txBody>
                    <a:bodyPr/>
                    <a:lstStyle/>
                    <a:p>
                      <a:pPr indent="0" lvl="0" marL="0" rtl="0" algn="l">
                        <a:spcBef>
                          <a:spcPts val="0"/>
                        </a:spcBef>
                        <a:spcAft>
                          <a:spcPts val="0"/>
                        </a:spcAft>
                        <a:buNone/>
                      </a:pPr>
                      <a:r>
                        <a:rPr lang="en-GB" sz="1000"/>
                        <a:t>alarm</a:t>
                      </a:r>
                      <a:endParaRPr sz="1000"/>
                    </a:p>
                  </a:txBody>
                  <a:tcPr marT="91425" marB="91425" marR="91425" marL="91425"/>
                </a:tc>
                <a:tc>
                  <a:txBody>
                    <a:bodyPr/>
                    <a:lstStyle/>
                    <a:p>
                      <a:pPr indent="0" lvl="0" marL="0" rtl="0" algn="l">
                        <a:spcBef>
                          <a:spcPts val="0"/>
                        </a:spcBef>
                        <a:spcAft>
                          <a:spcPts val="0"/>
                        </a:spcAft>
                        <a:buNone/>
                      </a:pPr>
                      <a:r>
                        <a:rPr lang="en-GB" sz="1000"/>
                        <a:t>Phone screen</a:t>
                      </a:r>
                      <a:endParaRPr sz="1000"/>
                    </a:p>
                  </a:txBody>
                  <a:tcPr marT="91425" marB="91425" marR="91425" marL="91425"/>
                </a:tc>
                <a:tc>
                  <a:txBody>
                    <a:bodyPr/>
                    <a:lstStyle/>
                    <a:p>
                      <a:pPr indent="0" lvl="0" marL="0" rtl="0" algn="l">
                        <a:spcBef>
                          <a:spcPts val="0"/>
                        </a:spcBef>
                        <a:spcAft>
                          <a:spcPts val="0"/>
                        </a:spcAft>
                        <a:buNone/>
                      </a:pPr>
                      <a:r>
                        <a:rPr lang="en-GB"/>
                        <a:t>adapt</a:t>
                      </a:r>
                      <a:endParaRPr/>
                    </a:p>
                  </a:txBody>
                  <a:tcPr marT="91425" marB="91425" marR="91425" marL="91425"/>
                </a:tc>
                <a:tc>
                  <a:txBody>
                    <a:bodyPr/>
                    <a:lstStyle/>
                    <a:p>
                      <a:pPr indent="0" lvl="0" marL="0" rtl="0" algn="l">
                        <a:spcBef>
                          <a:spcPts val="0"/>
                        </a:spcBef>
                        <a:spcAft>
                          <a:spcPts val="0"/>
                        </a:spcAft>
                        <a:buNone/>
                      </a:pPr>
                      <a:r>
                        <a:rPr lang="en-GB" sz="1000"/>
                        <a:t>Not only does it act as an alarm but only gives the user a task to at least get the user to become active and start their day</a:t>
                      </a:r>
                      <a:endParaRPr sz="10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Alternate Solution Ideas</a:t>
            </a:r>
            <a:endParaRPr/>
          </a:p>
        </p:txBody>
      </p:sp>
      <p:sp>
        <p:nvSpPr>
          <p:cNvPr id="171" name="Google Shape;17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b="1" lang="en-GB" sz="2229">
                <a:solidFill>
                  <a:schemeClr val="dk1"/>
                </a:solidFill>
              </a:rPr>
              <a:t>Dream Royale: Battle Mode </a:t>
            </a:r>
            <a:endParaRPr b="1" sz="2229">
              <a:solidFill>
                <a:schemeClr val="dk1"/>
              </a:solidFill>
            </a:endParaRPr>
          </a:p>
          <a:p>
            <a:pPr indent="0" lvl="0" marL="0" rtl="0" algn="l">
              <a:spcBef>
                <a:spcPts val="1200"/>
              </a:spcBef>
              <a:spcAft>
                <a:spcPts val="0"/>
              </a:spcAft>
              <a:buClr>
                <a:schemeClr val="dk1"/>
              </a:buClr>
              <a:buSzPct val="61111"/>
              <a:buFont typeface="Arial"/>
              <a:buNone/>
            </a:pPr>
            <a:r>
              <a:rPr lang="en-GB"/>
              <a:t>The first design idea for Clash of Sleep is a competitive battle‑royale style concept where users race to wake up faster than their friends. This version focuses on fast‑paced competition, using leaderboards, clan battles, avatar skins, and geolocation to verify school arrival. Every morning becomes a match, and users earn points by waking up early and completing tasks, which encourages punctuality through rivalry and game‑like mechanics.</a:t>
            </a:r>
            <a:endParaRPr/>
          </a:p>
          <a:p>
            <a:pPr indent="0" lvl="0" marL="0" rtl="0" algn="l">
              <a:spcBef>
                <a:spcPts val="1200"/>
              </a:spcBef>
              <a:spcAft>
                <a:spcPts val="0"/>
              </a:spcAft>
              <a:buClr>
                <a:schemeClr val="dk1"/>
              </a:buClr>
              <a:buSzPct val="49359"/>
              <a:buFont typeface="Arial"/>
              <a:buNone/>
            </a:pPr>
            <a:r>
              <a:rPr b="1" lang="en-GB" sz="2229">
                <a:solidFill>
                  <a:schemeClr val="dk1"/>
                </a:solidFill>
              </a:rPr>
              <a:t>Dreambound Adventure </a:t>
            </a:r>
            <a:endParaRPr b="1" sz="2229">
              <a:solidFill>
                <a:schemeClr val="dk1"/>
              </a:solidFill>
            </a:endParaRPr>
          </a:p>
          <a:p>
            <a:pPr indent="0" lvl="0" marL="0" rtl="0" algn="l">
              <a:spcBef>
                <a:spcPts val="1200"/>
              </a:spcBef>
              <a:spcAft>
                <a:spcPts val="0"/>
              </a:spcAft>
              <a:buClr>
                <a:schemeClr val="dk1"/>
              </a:buClr>
              <a:buSzPct val="61111"/>
              <a:buFont typeface="Arial"/>
              <a:buNone/>
            </a:pPr>
            <a:r>
              <a:rPr lang="en-GB"/>
              <a:t>The second design idea is a sleep‑quest adventure concept that turns healthy sleep habits into a progression‑based journey. Users complete daily quests, evolve their avatar as their sleep improves, unlock new map regions by arriving at school on time, and join guild‑style clans for cooperative challenges. This version emphasises long‑term habit building, exploration, and personal growth, making waking up feel rewarding and story‑driven rather than competitive.</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00" y="88950"/>
            <a:ext cx="8520600" cy="457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6698"/>
              <a:buNone/>
            </a:pPr>
            <a:r>
              <a:rPr lang="en-GB" sz="2120"/>
              <a:t>Evaluation</a:t>
            </a:r>
            <a:r>
              <a:rPr lang="en-GB" sz="2120"/>
              <a:t> criteria</a:t>
            </a:r>
            <a:endParaRPr sz="2120"/>
          </a:p>
        </p:txBody>
      </p:sp>
      <p:graphicFrame>
        <p:nvGraphicFramePr>
          <p:cNvPr id="177" name="Google Shape;177;p29"/>
          <p:cNvGraphicFramePr/>
          <p:nvPr/>
        </p:nvGraphicFramePr>
        <p:xfrm>
          <a:off x="303725" y="615400"/>
          <a:ext cx="3000000" cy="3000000"/>
        </p:xfrm>
        <a:graphic>
          <a:graphicData uri="http://schemas.openxmlformats.org/drawingml/2006/table">
            <a:tbl>
              <a:tblPr>
                <a:noFill/>
                <a:tableStyleId>{9227345D-A529-405E-9059-18E91EEFE0F5}</a:tableStyleId>
              </a:tblPr>
              <a:tblGrid>
                <a:gridCol w="893100"/>
                <a:gridCol w="2705025"/>
                <a:gridCol w="2249900"/>
                <a:gridCol w="2523925"/>
              </a:tblGrid>
              <a:tr h="434575">
                <a:tc>
                  <a:txBody>
                    <a:bodyPr/>
                    <a:lstStyle/>
                    <a:p>
                      <a:pPr indent="0" lvl="0" marL="0" rtl="0" algn="ctr">
                        <a:lnSpc>
                          <a:spcPct val="115000"/>
                        </a:lnSpc>
                        <a:spcBef>
                          <a:spcPts val="0"/>
                        </a:spcBef>
                        <a:spcAft>
                          <a:spcPts val="0"/>
                        </a:spcAft>
                        <a:buNone/>
                      </a:pPr>
                      <a:r>
                        <a:rPr b="1" lang="en-GB" sz="800"/>
                        <a:t>Evaluation Criteria (EC)</a:t>
                      </a:r>
                      <a:endParaRPr b="1"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t>Functional Requirement (FR)</a:t>
                      </a:r>
                      <a:endParaRPr b="1"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t>Evaluation Questions</a:t>
                      </a:r>
                      <a:endParaRPr b="1"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800"/>
                        <a:t>Strategies</a:t>
                      </a:r>
                      <a:endParaRPr b="1"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08950">
                <a:tc>
                  <a:txBody>
                    <a:bodyPr/>
                    <a:lstStyle/>
                    <a:p>
                      <a:pPr indent="0" lvl="0" marL="0" rtl="0" algn="ctr">
                        <a:lnSpc>
                          <a:spcPct val="115000"/>
                        </a:lnSpc>
                        <a:spcBef>
                          <a:spcPts val="0"/>
                        </a:spcBef>
                        <a:spcAft>
                          <a:spcPts val="0"/>
                        </a:spcAft>
                        <a:buNone/>
                      </a:pPr>
                      <a:r>
                        <a:rPr b="1" lang="en-GB" sz="800"/>
                        <a:t>EC01</a:t>
                      </a:r>
                      <a:endParaRPr b="1"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GB" sz="800"/>
                        <a:t>User Accounts and Profiles</a:t>
                      </a:r>
                      <a:r>
                        <a:rPr lang="en-GB" sz="800"/>
                        <a:t> – The app must allow users to create an account and link it to their emails to store data points and rankings.</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Does the app allow users to register and log in securely? Are points and rankings saved correctly to each profile?</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Test account creation and login on multiple devices; verify data is stored and retrieved accurately.</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88225">
                <a:tc>
                  <a:txBody>
                    <a:bodyPr/>
                    <a:lstStyle/>
                    <a:p>
                      <a:pPr indent="0" lvl="0" marL="0" rtl="0" algn="ctr">
                        <a:lnSpc>
                          <a:spcPct val="115000"/>
                        </a:lnSpc>
                        <a:spcBef>
                          <a:spcPts val="0"/>
                        </a:spcBef>
                        <a:spcAft>
                          <a:spcPts val="0"/>
                        </a:spcAft>
                        <a:buNone/>
                      </a:pPr>
                      <a:r>
                        <a:rPr b="1" lang="en-GB" sz="800"/>
                        <a:t>EC02</a:t>
                      </a:r>
                      <a:endParaRPr b="1"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GB" sz="800"/>
                        <a:t>Alarm System</a:t>
                      </a:r>
                      <a:r>
                        <a:rPr lang="en-GB" sz="800"/>
                        <a:t> – The app must let users set alarms so that they can get up early and complete their required tasks.</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Does the alarm activate at the correct time? Are tasks required to turn it off?</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Set multiple alarms; test each task type (photo, math, speaking) to confirm proper functionality.</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88225">
                <a:tc>
                  <a:txBody>
                    <a:bodyPr/>
                    <a:lstStyle/>
                    <a:p>
                      <a:pPr indent="0" lvl="0" marL="0" rtl="0" algn="ctr">
                        <a:lnSpc>
                          <a:spcPct val="115000"/>
                        </a:lnSpc>
                        <a:spcBef>
                          <a:spcPts val="0"/>
                        </a:spcBef>
                        <a:spcAft>
                          <a:spcPts val="0"/>
                        </a:spcAft>
                        <a:buNone/>
                      </a:pPr>
                      <a:r>
                        <a:rPr b="1" lang="en-GB" sz="800"/>
                        <a:t>EC03</a:t>
                      </a:r>
                      <a:endParaRPr b="1"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GB" sz="800"/>
                        <a:t>Reward System</a:t>
                      </a:r>
                      <a:r>
                        <a:rPr lang="en-GB" sz="800"/>
                        <a:t> – The app must award points for completing tasks and maintaining streaks.</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Are points awarded consistently after each successful wake-up? Are streaks tracked correctly?</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Simulate daily wake-ups; check point totals and streak progression in user profiles.</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88225">
                <a:tc>
                  <a:txBody>
                    <a:bodyPr/>
                    <a:lstStyle/>
                    <a:p>
                      <a:pPr indent="0" lvl="0" marL="0" rtl="0" algn="ctr">
                        <a:lnSpc>
                          <a:spcPct val="115000"/>
                        </a:lnSpc>
                        <a:spcBef>
                          <a:spcPts val="0"/>
                        </a:spcBef>
                        <a:spcAft>
                          <a:spcPts val="0"/>
                        </a:spcAft>
                        <a:buNone/>
                      </a:pPr>
                      <a:r>
                        <a:rPr b="1" lang="en-GB" sz="800"/>
                        <a:t>EC04</a:t>
                      </a:r>
                      <a:endParaRPr b="1"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GB" sz="800"/>
                        <a:t>Leaderboard System</a:t>
                      </a:r>
                      <a:r>
                        <a:rPr lang="en-GB" sz="800"/>
                        <a:t> – The app must display a global leaderboard ranking all users with points.</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Does the leaderboard update accurately and fairly? Are rankings visible to all users?</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Compare test accounts; verify leaderboard refreshes after each event or point change.</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88225">
                <a:tc>
                  <a:txBody>
                    <a:bodyPr/>
                    <a:lstStyle/>
                    <a:p>
                      <a:pPr indent="0" lvl="0" marL="0" rtl="0" algn="ctr">
                        <a:lnSpc>
                          <a:spcPct val="115000"/>
                        </a:lnSpc>
                        <a:spcBef>
                          <a:spcPts val="0"/>
                        </a:spcBef>
                        <a:spcAft>
                          <a:spcPts val="0"/>
                        </a:spcAft>
                        <a:buNone/>
                      </a:pPr>
                      <a:r>
                        <a:rPr b="1" lang="en-GB" sz="800"/>
                        <a:t>EC05</a:t>
                      </a:r>
                      <a:endParaRPr b="1"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GB" sz="800"/>
                        <a:t>Clan System</a:t>
                      </a:r>
                      <a:r>
                        <a:rPr lang="en-GB" sz="800"/>
                        <a:t> – The app must display clans where users can join and participate in challenges.</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Can users join, leave, and interact with clans easily? Are clan scores updated correctly?</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800"/>
                        <a:t>Create test clans; run mock challenges; confirm data sync and clan ranking accuracy.</a:t>
                      </a:r>
                      <a:endParaRPr sz="8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Criteria to select Preferred idea</a:t>
            </a:r>
            <a:endParaRPr/>
          </a:p>
        </p:txBody>
      </p:sp>
      <p:sp>
        <p:nvSpPr>
          <p:cNvPr id="183" name="Google Shape;18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lnSpc>
                <a:spcPct val="100000"/>
              </a:lnSpc>
              <a:spcBef>
                <a:spcPts val="0"/>
              </a:spcBef>
              <a:spcAft>
                <a:spcPts val="0"/>
              </a:spcAft>
              <a:buClr>
                <a:schemeClr val="dk1"/>
              </a:buClr>
              <a:buSzPts val="275"/>
              <a:buFont typeface="Arial"/>
              <a:buNone/>
            </a:pPr>
            <a:r>
              <a:rPr lang="en-GB" sz="5800"/>
              <a:t>Development time - Can the game be created within the 6-week timeline?</a:t>
            </a:r>
            <a:endParaRPr sz="5800"/>
          </a:p>
          <a:p>
            <a:pPr indent="0" lvl="0" marL="0" rtl="0" algn="l">
              <a:lnSpc>
                <a:spcPct val="100000"/>
              </a:lnSpc>
              <a:spcBef>
                <a:spcPts val="1200"/>
              </a:spcBef>
              <a:spcAft>
                <a:spcPts val="0"/>
              </a:spcAft>
              <a:buClr>
                <a:schemeClr val="dk1"/>
              </a:buClr>
              <a:buSzPts val="275"/>
              <a:buFont typeface="Arial"/>
              <a:buNone/>
            </a:pPr>
            <a:r>
              <a:rPr lang="en-GB" sz="5800"/>
              <a:t>Resources required - Does the game fit within the $0 budget and available resources?</a:t>
            </a:r>
            <a:endParaRPr sz="5800"/>
          </a:p>
          <a:p>
            <a:pPr indent="0" lvl="0" marL="0" rtl="0" algn="l">
              <a:lnSpc>
                <a:spcPct val="100000"/>
              </a:lnSpc>
              <a:spcBef>
                <a:spcPts val="1200"/>
              </a:spcBef>
              <a:spcAft>
                <a:spcPts val="0"/>
              </a:spcAft>
              <a:buClr>
                <a:schemeClr val="dk1"/>
              </a:buClr>
              <a:buSzPts val="275"/>
              <a:buFont typeface="Arial"/>
              <a:buNone/>
            </a:pPr>
            <a:r>
              <a:rPr lang="en-GB" sz="5800"/>
              <a:t>Number of players - How many players can actively participate at the same time?</a:t>
            </a:r>
            <a:endParaRPr sz="5800"/>
          </a:p>
          <a:p>
            <a:pPr indent="0" lvl="0" marL="0" rtl="0" algn="l">
              <a:lnSpc>
                <a:spcPct val="100000"/>
              </a:lnSpc>
              <a:spcBef>
                <a:spcPts val="1200"/>
              </a:spcBef>
              <a:spcAft>
                <a:spcPts val="0"/>
              </a:spcAft>
              <a:buClr>
                <a:schemeClr val="dk1"/>
              </a:buClr>
              <a:buSzPts val="275"/>
              <a:buFont typeface="Arial"/>
              <a:buNone/>
            </a:pPr>
            <a:r>
              <a:rPr lang="en-GB" sz="5800"/>
              <a:t>Encourages physical activity - Does the game get players moving and engaging physically?</a:t>
            </a:r>
            <a:endParaRPr sz="5800"/>
          </a:p>
          <a:p>
            <a:pPr indent="0" lvl="0" marL="0" rtl="0" algn="l">
              <a:lnSpc>
                <a:spcPct val="100000"/>
              </a:lnSpc>
              <a:spcBef>
                <a:spcPts val="1200"/>
              </a:spcBef>
              <a:spcAft>
                <a:spcPts val="0"/>
              </a:spcAft>
              <a:buClr>
                <a:schemeClr val="dk1"/>
              </a:buClr>
              <a:buSzPts val="275"/>
              <a:buFont typeface="Arial"/>
              <a:buNone/>
            </a:pPr>
            <a:r>
              <a:rPr lang="en-GB" sz="5800"/>
              <a:t>Scalability - Can the game easily grow or adapt in the future?</a:t>
            </a:r>
            <a:endParaRPr sz="5800"/>
          </a:p>
          <a:p>
            <a:pPr indent="0" lvl="0" marL="0" rtl="0" algn="l">
              <a:lnSpc>
                <a:spcPct val="100000"/>
              </a:lnSpc>
              <a:spcBef>
                <a:spcPts val="1200"/>
              </a:spcBef>
              <a:spcAft>
                <a:spcPts val="0"/>
              </a:spcAft>
              <a:buClr>
                <a:schemeClr val="dk1"/>
              </a:buClr>
              <a:buSzPts val="275"/>
              <a:buFont typeface="Arial"/>
              <a:buNone/>
            </a:pPr>
            <a:r>
              <a:rPr lang="en-GB" sz="5800"/>
              <a:t>Ease of Implementation - How easy is it to develop the game with the current skills and technology?</a:t>
            </a:r>
            <a:endParaRPr sz="5800"/>
          </a:p>
          <a:p>
            <a:pPr indent="0" lvl="0" marL="0" rtl="0" algn="l">
              <a:lnSpc>
                <a:spcPct val="100000"/>
              </a:lnSpc>
              <a:spcBef>
                <a:spcPts val="1200"/>
              </a:spcBef>
              <a:spcAft>
                <a:spcPts val="0"/>
              </a:spcAft>
              <a:buClr>
                <a:schemeClr val="dk1"/>
              </a:buClr>
              <a:buSzPts val="275"/>
              <a:buFont typeface="Arial"/>
              <a:buNone/>
            </a:pPr>
            <a:r>
              <a:rPr lang="en-GB" sz="5800"/>
              <a:t>Maintenance costs - How much will it cost to maintain and run the game in the long term?</a:t>
            </a:r>
            <a:endParaRPr sz="5800"/>
          </a:p>
          <a:p>
            <a:pPr indent="0" lvl="0" marL="0" rtl="0" algn="l">
              <a:lnSpc>
                <a:spcPct val="100000"/>
              </a:lnSpc>
              <a:spcBef>
                <a:spcPts val="1200"/>
              </a:spcBef>
              <a:spcAft>
                <a:spcPts val="0"/>
              </a:spcAft>
              <a:buClr>
                <a:schemeClr val="dk1"/>
              </a:buClr>
              <a:buSzPts val="275"/>
              <a:buFont typeface="Arial"/>
              <a:buNone/>
            </a:pPr>
            <a:r>
              <a:rPr lang="en-GB" sz="5800"/>
              <a:t>Ease of use - Is the game simple for players to understand and enjoy?</a:t>
            </a:r>
            <a:endParaRPr sz="5800"/>
          </a:p>
          <a:p>
            <a:pPr indent="0" lvl="0" marL="0" rtl="0" algn="l">
              <a:lnSpc>
                <a:spcPct val="100000"/>
              </a:lnSpc>
              <a:spcBef>
                <a:spcPts val="1200"/>
              </a:spcBef>
              <a:spcAft>
                <a:spcPts val="0"/>
              </a:spcAft>
              <a:buClr>
                <a:schemeClr val="dk1"/>
              </a:buClr>
              <a:buSzPts val="275"/>
              <a:buFont typeface="Arial"/>
              <a:buNone/>
            </a:pPr>
            <a:r>
              <a:rPr lang="en-GB" sz="5800"/>
              <a:t>Hardware/software compatibility - Can the game run on existing devices or technology?</a:t>
            </a:r>
            <a:endParaRPr sz="5800"/>
          </a:p>
          <a:p>
            <a:pPr indent="0" lvl="0" marL="0" rtl="0" algn="l">
              <a:lnSpc>
                <a:spcPct val="100000"/>
              </a:lnSpc>
              <a:spcBef>
                <a:spcPts val="1200"/>
              </a:spcBef>
              <a:spcAft>
                <a:spcPts val="0"/>
              </a:spcAft>
              <a:buClr>
                <a:schemeClr val="dk1"/>
              </a:buClr>
              <a:buSzPts val="275"/>
              <a:buFont typeface="Arial"/>
              <a:buNone/>
            </a:pPr>
            <a:r>
              <a:rPr lang="en-GB" sz="5800"/>
              <a:t>Future modifications - How easily can the game be updated or improved in the future?</a:t>
            </a:r>
            <a:endParaRPr sz="5800"/>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Preferred design</a:t>
            </a:r>
            <a:endParaRPr/>
          </a:p>
        </p:txBody>
      </p:sp>
      <p:sp>
        <p:nvSpPr>
          <p:cNvPr id="189" name="Google Shape;18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The preferred design is Clash of Sleep </a:t>
            </a:r>
            <a:endParaRPr/>
          </a:p>
        </p:txBody>
      </p:sp>
      <p:pic>
        <p:nvPicPr>
          <p:cNvPr id="190" name="Google Shape;190;p31" title="Screenshot 2026-06-23 120216.png"/>
          <p:cNvPicPr preferRelativeResize="0"/>
          <p:nvPr/>
        </p:nvPicPr>
        <p:blipFill>
          <a:blip r:embed="rId3">
            <a:alphaModFix/>
          </a:blip>
          <a:stretch>
            <a:fillRect/>
          </a:stretch>
        </p:blipFill>
        <p:spPr>
          <a:xfrm>
            <a:off x="3914351" y="1727100"/>
            <a:ext cx="5229650" cy="34163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Onboarding Questions</a:t>
            </a:r>
            <a:endParaRPr/>
          </a:p>
        </p:txBody>
      </p:sp>
      <p:sp>
        <p:nvSpPr>
          <p:cNvPr id="196" name="Google Shape;19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a:solidFill>
                  <a:schemeClr val="dk1"/>
                </a:solidFill>
              </a:rPr>
              <a:t>Raf: </a:t>
            </a:r>
            <a:r>
              <a:rPr b="1" lang="en-GB">
                <a:solidFill>
                  <a:schemeClr val="dk1"/>
                </a:solidFill>
              </a:rPr>
              <a:t>having</a:t>
            </a:r>
            <a:r>
              <a:rPr b="1" lang="en-GB">
                <a:solidFill>
                  <a:schemeClr val="dk1"/>
                </a:solidFill>
              </a:rPr>
              <a:t> trouble in the morning, feeling bored and tired well become energetic and alert today by b</a:t>
            </a:r>
            <a:r>
              <a:rPr b="1" lang="en-GB">
                <a:solidFill>
                  <a:schemeClr val="dk1"/>
                </a:solidFill>
              </a:rPr>
              <a:t>eating your friends by beating them in this app</a:t>
            </a:r>
            <a:endParaRPr b="1">
              <a:solidFill>
                <a:schemeClr val="dk1"/>
              </a:solidFill>
            </a:endParaRPr>
          </a:p>
          <a:p>
            <a:pPr indent="0" lvl="0" marL="0" rtl="0" algn="l">
              <a:spcBef>
                <a:spcPts val="1200"/>
              </a:spcBef>
              <a:spcAft>
                <a:spcPts val="0"/>
              </a:spcAft>
              <a:buNone/>
            </a:pPr>
            <a:r>
              <a:rPr b="1" lang="en-GB">
                <a:solidFill>
                  <a:schemeClr val="dk1"/>
                </a:solidFill>
              </a:rPr>
              <a:t>Chaurya: Do you want to vs your friends while sleeping then this app if for you. </a:t>
            </a:r>
            <a:endParaRPr b="1">
              <a:solidFill>
                <a:schemeClr val="dk1"/>
              </a:solidFill>
            </a:endParaRPr>
          </a:p>
          <a:p>
            <a:pPr indent="0" lvl="0" marL="0" rtl="0" algn="l">
              <a:spcBef>
                <a:spcPts val="1200"/>
              </a:spcBef>
              <a:spcAft>
                <a:spcPts val="0"/>
              </a:spcAft>
              <a:buNone/>
            </a:pPr>
            <a:r>
              <a:rPr b="1" lang="en-GB">
                <a:solidFill>
                  <a:schemeClr val="dk1"/>
                </a:solidFill>
              </a:rPr>
              <a:t>Tristan: Who controls their alarm better, you or your friends? Prove yourself in our App, rise to the top and push through to victory. </a:t>
            </a:r>
            <a:endParaRPr b="1">
              <a:solidFill>
                <a:schemeClr val="dk1"/>
              </a:solidFill>
            </a:endParaRPr>
          </a:p>
          <a:p>
            <a:pPr indent="0" lvl="0" marL="0" rtl="0" algn="l">
              <a:spcBef>
                <a:spcPts val="1200"/>
              </a:spcBef>
              <a:spcAft>
                <a:spcPts val="1200"/>
              </a:spcAft>
              <a:buNone/>
            </a:pPr>
            <a:r>
              <a:rPr b="1" lang="en-GB">
                <a:solidFill>
                  <a:schemeClr val="dk1"/>
                </a:solidFill>
              </a:rPr>
              <a:t>Nathaniel : having trouble waking up in the morning, beat your sleep and beat your meat in this competitive ranked battle royale where you clash with your friends and beat them by waking up in faster. </a:t>
            </a:r>
            <a:endParaRPr b="1">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a:t>
            </a:r>
            <a:r>
              <a:rPr lang="en-GB"/>
              <a:t>Preferred</a:t>
            </a:r>
            <a:r>
              <a:rPr lang="en-GB"/>
              <a:t> Onboarding question</a:t>
            </a:r>
            <a:endParaRPr/>
          </a:p>
        </p:txBody>
      </p:sp>
      <p:sp>
        <p:nvSpPr>
          <p:cNvPr id="202" name="Google Shape;20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GB">
                <a:solidFill>
                  <a:schemeClr val="dk1"/>
                </a:solidFill>
              </a:rPr>
              <a:t>H</a:t>
            </a:r>
            <a:r>
              <a:rPr b="1" lang="en-GB">
                <a:solidFill>
                  <a:schemeClr val="dk1"/>
                </a:solidFill>
              </a:rPr>
              <a:t>aving trouble waking up in the morning, beat your sleep and beat your meat in this competitive ranked battle royale where you clash with your friends and beat them by waking up in faster. </a:t>
            </a:r>
            <a:endParaRPr b="1">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0" y="644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Ipo chart</a:t>
            </a:r>
            <a:endParaRPr/>
          </a:p>
        </p:txBody>
      </p:sp>
      <p:graphicFrame>
        <p:nvGraphicFramePr>
          <p:cNvPr id="208" name="Google Shape;208;p34"/>
          <p:cNvGraphicFramePr/>
          <p:nvPr/>
        </p:nvGraphicFramePr>
        <p:xfrm>
          <a:off x="729600" y="445025"/>
          <a:ext cx="3000000" cy="3000000"/>
        </p:xfrm>
        <a:graphic>
          <a:graphicData uri="http://schemas.openxmlformats.org/drawingml/2006/table">
            <a:tbl>
              <a:tblPr>
                <a:noFill/>
                <a:tableStyleId>{E98ED482-F35D-458F-B41A-CBEB8BBF33FB}</a:tableStyleId>
              </a:tblPr>
              <a:tblGrid>
                <a:gridCol w="2561600"/>
                <a:gridCol w="2561600"/>
                <a:gridCol w="2561600"/>
              </a:tblGrid>
              <a:tr h="175450">
                <a:tc>
                  <a:txBody>
                    <a:bodyPr/>
                    <a:lstStyle/>
                    <a:p>
                      <a:pPr indent="0" lvl="0" marL="0" rtl="0" algn="ctr">
                        <a:lnSpc>
                          <a:spcPct val="115000"/>
                        </a:lnSpc>
                        <a:spcBef>
                          <a:spcPts val="0"/>
                        </a:spcBef>
                        <a:spcAft>
                          <a:spcPts val="0"/>
                        </a:spcAft>
                        <a:buNone/>
                      </a:pPr>
                      <a:r>
                        <a:rPr b="1" lang="en-GB" sz="1100"/>
                        <a:t>Input</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Process</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Output</a:t>
                      </a:r>
                      <a:endParaRPr b="1" sz="1100"/>
                    </a:p>
                  </a:txBody>
                  <a:tcPr marT="91425" marB="91425" marR="91425" marL="91425"/>
                </a:tc>
              </a:tr>
              <a:tr h="411975">
                <a:tc>
                  <a:txBody>
                    <a:bodyPr/>
                    <a:lstStyle/>
                    <a:p>
                      <a:pPr indent="0" lvl="0" marL="0" rtl="0" algn="l">
                        <a:spcBef>
                          <a:spcPts val="0"/>
                        </a:spcBef>
                        <a:spcAft>
                          <a:spcPts val="0"/>
                        </a:spcAft>
                        <a:buNone/>
                      </a:pPr>
                      <a:r>
                        <a:rPr b="1" lang="en-GB" sz="900">
                          <a:solidFill>
                            <a:schemeClr val="dk1"/>
                          </a:solidFill>
                        </a:rPr>
                        <a:t>User creates an account and profile</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Store user information securely</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User profile is created</a:t>
                      </a:r>
                      <a:endParaRPr b="1" sz="900">
                        <a:solidFill>
                          <a:schemeClr val="dk1"/>
                        </a:solidFill>
                      </a:endParaRPr>
                    </a:p>
                  </a:txBody>
                  <a:tcPr marT="91425" marB="91425" marR="91425" marL="91425"/>
                </a:tc>
              </a:tr>
              <a:tr h="518775">
                <a:tc>
                  <a:txBody>
                    <a:bodyPr/>
                    <a:lstStyle/>
                    <a:p>
                      <a:pPr indent="0" lvl="0" marL="0" rtl="0" algn="l">
                        <a:spcBef>
                          <a:spcPts val="0"/>
                        </a:spcBef>
                        <a:spcAft>
                          <a:spcPts val="0"/>
                        </a:spcAft>
                        <a:buNone/>
                      </a:pPr>
                      <a:r>
                        <a:rPr b="1" lang="en-GB" sz="900">
                          <a:solidFill>
                            <a:schemeClr val="dk1"/>
                          </a:solidFill>
                        </a:rPr>
                        <a:t>User enables location (GPS)</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Verify the user's arrival at school using geolocation</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Attendance is confirmed only if the user is at school</a:t>
                      </a:r>
                      <a:endParaRPr b="1" sz="900">
                        <a:solidFill>
                          <a:schemeClr val="dk1"/>
                        </a:solidFill>
                      </a:endParaRPr>
                    </a:p>
                  </a:txBody>
                  <a:tcPr marT="91425" marB="91425" marR="91425" marL="91425"/>
                </a:tc>
              </a:tr>
              <a:tr h="305150">
                <a:tc>
                  <a:txBody>
                    <a:bodyPr/>
                    <a:lstStyle/>
                    <a:p>
                      <a:pPr indent="0" lvl="0" marL="0" rtl="0" algn="l">
                        <a:spcBef>
                          <a:spcPts val="0"/>
                        </a:spcBef>
                        <a:spcAft>
                          <a:spcPts val="0"/>
                        </a:spcAft>
                        <a:buNone/>
                      </a:pPr>
                      <a:r>
                        <a:rPr b="1" lang="en-GB" sz="900">
                          <a:solidFill>
                            <a:schemeClr val="dk1"/>
                          </a:solidFill>
                        </a:rPr>
                        <a:t>User arrives at school on time</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Award points for on-time arrival</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User earns points</a:t>
                      </a:r>
                      <a:endParaRPr b="1" sz="900">
                        <a:solidFill>
                          <a:schemeClr val="dk1"/>
                        </a:solidFill>
                      </a:endParaRPr>
                    </a:p>
                  </a:txBody>
                  <a:tcPr marT="91425" marB="91425" marR="91425" marL="91425"/>
                </a:tc>
              </a:tr>
              <a:tr h="305150">
                <a:tc>
                  <a:txBody>
                    <a:bodyPr/>
                    <a:lstStyle/>
                    <a:p>
                      <a:pPr indent="0" lvl="0" marL="0" rtl="0" algn="l">
                        <a:spcBef>
                          <a:spcPts val="0"/>
                        </a:spcBef>
                        <a:spcAft>
                          <a:spcPts val="0"/>
                        </a:spcAft>
                        <a:buNone/>
                      </a:pPr>
                      <a:r>
                        <a:rPr b="1" lang="en-GB" sz="900">
                          <a:solidFill>
                            <a:schemeClr val="dk1"/>
                          </a:solidFill>
                        </a:rPr>
                        <a:t>Points earned</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Update the user's total score</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Increased point balance</a:t>
                      </a:r>
                      <a:endParaRPr b="1" sz="900">
                        <a:solidFill>
                          <a:schemeClr val="dk1"/>
                        </a:solidFill>
                      </a:endParaRPr>
                    </a:p>
                  </a:txBody>
                  <a:tcPr marT="91425" marB="91425" marR="91425" marL="91425"/>
                </a:tc>
              </a:tr>
              <a:tr h="411975">
                <a:tc>
                  <a:txBody>
                    <a:bodyPr/>
                    <a:lstStyle/>
                    <a:p>
                      <a:pPr indent="0" lvl="0" marL="0" rtl="0" algn="l">
                        <a:spcBef>
                          <a:spcPts val="0"/>
                        </a:spcBef>
                        <a:spcAft>
                          <a:spcPts val="0"/>
                        </a:spcAft>
                        <a:buNone/>
                      </a:pPr>
                      <a:r>
                        <a:rPr b="1" lang="en-GB" sz="900">
                          <a:solidFill>
                            <a:schemeClr val="dk1"/>
                          </a:solidFill>
                        </a:rPr>
                        <a:t>User points</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Update the global and local leaderboard</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User's ranking is displayed</a:t>
                      </a:r>
                      <a:endParaRPr b="1" sz="900">
                        <a:solidFill>
                          <a:schemeClr val="dk1"/>
                        </a:solidFill>
                      </a:endParaRPr>
                    </a:p>
                  </a:txBody>
                  <a:tcPr marT="91425" marB="91425" marR="91425" marL="91425"/>
                </a:tc>
              </a:tr>
              <a:tr h="411975">
                <a:tc>
                  <a:txBody>
                    <a:bodyPr/>
                    <a:lstStyle/>
                    <a:p>
                      <a:pPr indent="0" lvl="0" marL="0" rtl="0" algn="l">
                        <a:spcBef>
                          <a:spcPts val="0"/>
                        </a:spcBef>
                        <a:spcAft>
                          <a:spcPts val="0"/>
                        </a:spcAft>
                        <a:buNone/>
                      </a:pPr>
                      <a:r>
                        <a:rPr b="1" lang="en-GB" sz="900">
                          <a:solidFill>
                            <a:schemeClr val="dk1"/>
                          </a:solidFill>
                        </a:rPr>
                        <a:t>User spends points</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Deduct points and unlock avatar skins</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New avatar skins become available</a:t>
                      </a:r>
                      <a:endParaRPr b="1" sz="900">
                        <a:solidFill>
                          <a:schemeClr val="dk1"/>
                        </a:solidFill>
                      </a:endParaRPr>
                    </a:p>
                  </a:txBody>
                  <a:tcPr marT="91425" marB="91425" marR="91425" marL="91425"/>
                </a:tc>
              </a:tr>
              <a:tr h="305150">
                <a:tc>
                  <a:txBody>
                    <a:bodyPr/>
                    <a:lstStyle/>
                    <a:p>
                      <a:pPr indent="0" lvl="0" marL="0" rtl="0" algn="l">
                        <a:spcBef>
                          <a:spcPts val="0"/>
                        </a:spcBef>
                        <a:spcAft>
                          <a:spcPts val="0"/>
                        </a:spcAft>
                        <a:buNone/>
                      </a:pPr>
                      <a:r>
                        <a:rPr b="1" lang="en-GB" sz="900">
                          <a:solidFill>
                            <a:schemeClr val="dk1"/>
                          </a:solidFill>
                        </a:rPr>
                        <a:t>User creates or joins a clan</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Add user to clan database</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Clan is created or joined</a:t>
                      </a:r>
                      <a:endParaRPr b="1" sz="900">
                        <a:solidFill>
                          <a:schemeClr val="dk1"/>
                        </a:solidFill>
                      </a:endParaRPr>
                    </a:p>
                  </a:txBody>
                  <a:tcPr marT="91425" marB="91425" marR="91425" marL="91425"/>
                </a:tc>
              </a:tr>
              <a:tr h="518775">
                <a:tc>
                  <a:txBody>
                    <a:bodyPr/>
                    <a:lstStyle/>
                    <a:p>
                      <a:pPr indent="0" lvl="0" marL="0" rtl="0" algn="l">
                        <a:spcBef>
                          <a:spcPts val="0"/>
                        </a:spcBef>
                        <a:spcAft>
                          <a:spcPts val="0"/>
                        </a:spcAft>
                        <a:buNone/>
                      </a:pPr>
                      <a:r>
                        <a:rPr b="1" lang="en-GB" sz="900">
                          <a:solidFill>
                            <a:schemeClr val="dk1"/>
                          </a:solidFill>
                        </a:rPr>
                        <a:t>Clan members earn points</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Combine member scores and compare with other clans</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Clan rankings are updated</a:t>
                      </a:r>
                      <a:endParaRPr b="1" sz="900">
                        <a:solidFill>
                          <a:schemeClr val="dk1"/>
                        </a:solidFill>
                      </a:endParaRPr>
                    </a:p>
                  </a:txBody>
                  <a:tcPr marT="91425" marB="91425" marR="91425" marL="91425"/>
                </a:tc>
              </a:tr>
              <a:tr h="411975">
                <a:tc>
                  <a:txBody>
                    <a:bodyPr/>
                    <a:lstStyle/>
                    <a:p>
                      <a:pPr indent="0" lvl="0" marL="0" rtl="0" algn="l">
                        <a:spcBef>
                          <a:spcPts val="0"/>
                        </a:spcBef>
                        <a:spcAft>
                          <a:spcPts val="0"/>
                        </a:spcAft>
                        <a:buNone/>
                      </a:pPr>
                      <a:r>
                        <a:rPr b="1" lang="en-GB" sz="900">
                          <a:solidFill>
                            <a:schemeClr val="dk1"/>
                          </a:solidFill>
                        </a:rPr>
                        <a:t>GPS location and timestamp</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Check for invalid locations or fake GPS use</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Prevents cheating and ensures fair play</a:t>
                      </a:r>
                      <a:endParaRPr b="1" sz="900">
                        <a:solidFill>
                          <a:schemeClr val="dk1"/>
                        </a:solidFill>
                      </a:endParaRPr>
                    </a:p>
                  </a:txBody>
                  <a:tcPr marT="91425" marB="91425" marR="91425" marL="91425"/>
                </a:tc>
              </a:tr>
              <a:tr h="518775">
                <a:tc>
                  <a:txBody>
                    <a:bodyPr/>
                    <a:lstStyle/>
                    <a:p>
                      <a:pPr indent="0" lvl="0" marL="0" rtl="0" algn="l">
                        <a:spcBef>
                          <a:spcPts val="0"/>
                        </a:spcBef>
                        <a:spcAft>
                          <a:spcPts val="0"/>
                        </a:spcAft>
                        <a:buNone/>
                      </a:pPr>
                      <a:r>
                        <a:rPr b="1" lang="en-GB" sz="900">
                          <a:solidFill>
                            <a:schemeClr val="dk1"/>
                          </a:solidFill>
                        </a:rPr>
                        <a:t>Leaderboard data</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Rank all users and clans based on points</a:t>
                      </a:r>
                      <a:endParaRPr b="1" sz="900">
                        <a:solidFill>
                          <a:schemeClr val="dk1"/>
                        </a:solidFill>
                      </a:endParaRPr>
                    </a:p>
                  </a:txBody>
                  <a:tcPr marT="91425" marB="91425" marR="91425" marL="91425"/>
                </a:tc>
                <a:tc>
                  <a:txBody>
                    <a:bodyPr/>
                    <a:lstStyle/>
                    <a:p>
                      <a:pPr indent="0" lvl="0" marL="0" rtl="0" algn="l">
                        <a:spcBef>
                          <a:spcPts val="0"/>
                        </a:spcBef>
                        <a:spcAft>
                          <a:spcPts val="0"/>
                        </a:spcAft>
                        <a:buNone/>
                      </a:pPr>
                      <a:r>
                        <a:rPr b="1" lang="en-GB" sz="900">
                          <a:solidFill>
                            <a:schemeClr val="dk1"/>
                          </a:solidFill>
                        </a:rPr>
                        <a:t>Competitive rankings encourage users to arrive on time</a:t>
                      </a:r>
                      <a:endParaRPr b="1" sz="900">
                        <a:solidFill>
                          <a:schemeClr val="dk1"/>
                        </a:solidFill>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Flow chart</a:t>
            </a:r>
            <a:endParaRPr/>
          </a:p>
        </p:txBody>
      </p:sp>
      <p:pic>
        <p:nvPicPr>
          <p:cNvPr id="214" name="Google Shape;214;p35" title="ChatGPT Image Jul 28, 2026, 12_19_42 PM.png"/>
          <p:cNvPicPr preferRelativeResize="0"/>
          <p:nvPr/>
        </p:nvPicPr>
        <p:blipFill>
          <a:blip r:embed="rId3">
            <a:alphaModFix/>
          </a:blip>
          <a:stretch>
            <a:fillRect/>
          </a:stretch>
        </p:blipFill>
        <p:spPr>
          <a:xfrm>
            <a:off x="3849650" y="0"/>
            <a:ext cx="3470876" cy="52062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Annotated Diagram</a:t>
            </a:r>
            <a:endParaRPr/>
          </a:p>
        </p:txBody>
      </p:sp>
      <p:sp>
        <p:nvSpPr>
          <p:cNvPr id="220" name="Google Shape;22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1" name="Google Shape;221;p36" title="images.jpg"/>
          <p:cNvPicPr preferRelativeResize="0"/>
          <p:nvPr/>
        </p:nvPicPr>
        <p:blipFill>
          <a:blip r:embed="rId3">
            <a:alphaModFix/>
          </a:blip>
          <a:stretch>
            <a:fillRect/>
          </a:stretch>
        </p:blipFill>
        <p:spPr>
          <a:xfrm>
            <a:off x="311700" y="1152475"/>
            <a:ext cx="2791199" cy="1584650"/>
          </a:xfrm>
          <a:prstGeom prst="rect">
            <a:avLst/>
          </a:prstGeom>
          <a:noFill/>
          <a:ln>
            <a:noFill/>
          </a:ln>
        </p:spPr>
      </p:pic>
      <p:sp>
        <p:nvSpPr>
          <p:cNvPr id="222" name="Google Shape;222;p36"/>
          <p:cNvSpPr txBox="1"/>
          <p:nvPr/>
        </p:nvSpPr>
        <p:spPr>
          <a:xfrm>
            <a:off x="665375" y="2511950"/>
            <a:ext cx="2691300" cy="29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Person Sleeping</a:t>
            </a:r>
            <a:endParaRPr sz="1200">
              <a:solidFill>
                <a:schemeClr val="dk1"/>
              </a:solidFill>
            </a:endParaRPr>
          </a:p>
        </p:txBody>
      </p:sp>
      <p:pic>
        <p:nvPicPr>
          <p:cNvPr id="223" name="Google Shape;223;p36" title="images.jpg"/>
          <p:cNvPicPr preferRelativeResize="0"/>
          <p:nvPr/>
        </p:nvPicPr>
        <p:blipFill>
          <a:blip r:embed="rId4">
            <a:alphaModFix/>
          </a:blip>
          <a:stretch>
            <a:fillRect/>
          </a:stretch>
        </p:blipFill>
        <p:spPr>
          <a:xfrm>
            <a:off x="2444675" y="897125"/>
            <a:ext cx="1712025" cy="1263200"/>
          </a:xfrm>
          <a:prstGeom prst="rect">
            <a:avLst/>
          </a:prstGeom>
          <a:noFill/>
          <a:ln>
            <a:noFill/>
          </a:ln>
        </p:spPr>
      </p:pic>
      <p:sp>
        <p:nvSpPr>
          <p:cNvPr id="224" name="Google Shape;224;p36"/>
          <p:cNvSpPr/>
          <p:nvPr/>
        </p:nvSpPr>
        <p:spPr>
          <a:xfrm>
            <a:off x="2908175" y="1996100"/>
            <a:ext cx="717600" cy="6174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36"/>
          <p:cNvSpPr txBox="1"/>
          <p:nvPr/>
        </p:nvSpPr>
        <p:spPr>
          <a:xfrm>
            <a:off x="3850175" y="1412975"/>
            <a:ext cx="2332500" cy="4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Clash of sleep alarm goes off</a:t>
            </a:r>
            <a:endParaRPr sz="1200">
              <a:solidFill>
                <a:schemeClr val="dk1"/>
              </a:solidFill>
            </a:endParaRPr>
          </a:p>
        </p:txBody>
      </p:sp>
      <p:pic>
        <p:nvPicPr>
          <p:cNvPr id="226" name="Google Shape;226;p36" title="images.png"/>
          <p:cNvPicPr preferRelativeResize="0"/>
          <p:nvPr/>
        </p:nvPicPr>
        <p:blipFill>
          <a:blip r:embed="rId5">
            <a:alphaModFix/>
          </a:blip>
          <a:stretch>
            <a:fillRect/>
          </a:stretch>
        </p:blipFill>
        <p:spPr>
          <a:xfrm>
            <a:off x="6634350" y="1219750"/>
            <a:ext cx="2197950" cy="1191750"/>
          </a:xfrm>
          <a:prstGeom prst="rect">
            <a:avLst/>
          </a:prstGeom>
          <a:noFill/>
          <a:ln>
            <a:noFill/>
          </a:ln>
        </p:spPr>
      </p:pic>
      <p:pic>
        <p:nvPicPr>
          <p:cNvPr id="227" name="Google Shape;227;p36" title="images.png"/>
          <p:cNvPicPr preferRelativeResize="0"/>
          <p:nvPr/>
        </p:nvPicPr>
        <p:blipFill>
          <a:blip r:embed="rId6">
            <a:alphaModFix/>
          </a:blip>
          <a:stretch>
            <a:fillRect/>
          </a:stretch>
        </p:blipFill>
        <p:spPr>
          <a:xfrm>
            <a:off x="8065850" y="1996100"/>
            <a:ext cx="717600" cy="927275"/>
          </a:xfrm>
          <a:prstGeom prst="rect">
            <a:avLst/>
          </a:prstGeom>
          <a:noFill/>
          <a:ln>
            <a:noFill/>
          </a:ln>
        </p:spPr>
      </p:pic>
      <p:pic>
        <p:nvPicPr>
          <p:cNvPr id="228" name="Google Shape;228;p36" title="images.jpg"/>
          <p:cNvPicPr preferRelativeResize="0"/>
          <p:nvPr/>
        </p:nvPicPr>
        <p:blipFill>
          <a:blip r:embed="rId7">
            <a:alphaModFix/>
          </a:blip>
          <a:stretch>
            <a:fillRect/>
          </a:stretch>
        </p:blipFill>
        <p:spPr>
          <a:xfrm>
            <a:off x="7378825" y="2317550"/>
            <a:ext cx="642950" cy="419575"/>
          </a:xfrm>
          <a:prstGeom prst="rect">
            <a:avLst/>
          </a:prstGeom>
          <a:noFill/>
          <a:ln>
            <a:noFill/>
          </a:ln>
        </p:spPr>
      </p:pic>
      <p:sp>
        <p:nvSpPr>
          <p:cNvPr id="229" name="Google Shape;229;p36"/>
          <p:cNvSpPr/>
          <p:nvPr/>
        </p:nvSpPr>
        <p:spPr>
          <a:xfrm>
            <a:off x="6010700" y="1412975"/>
            <a:ext cx="1472700" cy="358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36"/>
          <p:cNvSpPr txBox="1"/>
          <p:nvPr/>
        </p:nvSpPr>
        <p:spPr>
          <a:xfrm>
            <a:off x="6286550" y="2668950"/>
            <a:ext cx="2496900" cy="51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solidFill>
                  <a:schemeClr val="dk1"/>
                </a:solidFill>
              </a:rPr>
              <a:t>Perform wake up </a:t>
            </a:r>
            <a:r>
              <a:rPr lang="en-GB" sz="900">
                <a:solidFill>
                  <a:schemeClr val="dk1"/>
                </a:solidFill>
              </a:rPr>
              <a:t>activities</a:t>
            </a:r>
            <a:r>
              <a:rPr lang="en-GB" sz="900">
                <a:solidFill>
                  <a:schemeClr val="dk1"/>
                </a:solidFill>
              </a:rPr>
              <a:t> to turn the alarm off</a:t>
            </a:r>
            <a:endParaRPr sz="900">
              <a:solidFill>
                <a:schemeClr val="dk1"/>
              </a:solidFill>
            </a:endParaRPr>
          </a:p>
        </p:txBody>
      </p:sp>
      <p:pic>
        <p:nvPicPr>
          <p:cNvPr id="231" name="Google Shape;231;p36" title="images.jpg"/>
          <p:cNvPicPr preferRelativeResize="0"/>
          <p:nvPr/>
        </p:nvPicPr>
        <p:blipFill>
          <a:blip r:embed="rId8">
            <a:alphaModFix/>
          </a:blip>
          <a:stretch>
            <a:fillRect/>
          </a:stretch>
        </p:blipFill>
        <p:spPr>
          <a:xfrm>
            <a:off x="3850175" y="3184950"/>
            <a:ext cx="1682101" cy="1222600"/>
          </a:xfrm>
          <a:prstGeom prst="rect">
            <a:avLst/>
          </a:prstGeom>
          <a:noFill/>
          <a:ln>
            <a:noFill/>
          </a:ln>
        </p:spPr>
      </p:pic>
      <p:sp>
        <p:nvSpPr>
          <p:cNvPr id="232" name="Google Shape;232;p36"/>
          <p:cNvSpPr/>
          <p:nvPr/>
        </p:nvSpPr>
        <p:spPr>
          <a:xfrm>
            <a:off x="6339675" y="3521200"/>
            <a:ext cx="2145600" cy="3588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36"/>
          <p:cNvSpPr txBox="1"/>
          <p:nvPr/>
        </p:nvSpPr>
        <p:spPr>
          <a:xfrm>
            <a:off x="1569950" y="3222100"/>
            <a:ext cx="2691300" cy="6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Alarm goes off</a:t>
            </a:r>
            <a:endParaRPr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